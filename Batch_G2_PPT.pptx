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150" r:id="rId1"/>
  </p:sldMasterIdLst>
  <p:notesMasterIdLst>
    <p:notesMasterId r:id="rId18"/>
  </p:notesMasterIdLst>
  <p:sldIdLst>
    <p:sldId id="439" r:id="rId2"/>
    <p:sldId id="440" r:id="rId3"/>
    <p:sldId id="441" r:id="rId4"/>
    <p:sldId id="453" r:id="rId5"/>
    <p:sldId id="442" r:id="rId6"/>
    <p:sldId id="446" r:id="rId7"/>
    <p:sldId id="443" r:id="rId8"/>
    <p:sldId id="444" r:id="rId9"/>
    <p:sldId id="447" r:id="rId10"/>
    <p:sldId id="448" r:id="rId11"/>
    <p:sldId id="450" r:id="rId12"/>
    <p:sldId id="454" r:id="rId13"/>
    <p:sldId id="455" r:id="rId14"/>
    <p:sldId id="456" r:id="rId15"/>
    <p:sldId id="457"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A0F2"/>
    <a:srgbClr val="E43C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71" autoAdjust="0"/>
    <p:restoredTop sz="94404" autoAdjust="0"/>
  </p:normalViewPr>
  <p:slideViewPr>
    <p:cSldViewPr snapToGrid="0">
      <p:cViewPr varScale="1">
        <p:scale>
          <a:sx n="70" d="100"/>
          <a:sy n="70" d="100"/>
        </p:scale>
        <p:origin x="672"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7D8015-6EC0-4E79-AE62-AF04FE2E7998}" type="datetimeFigureOut">
              <a:rPr lang="en-US" smtClean="0"/>
              <a:t>4/29/2026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19A79-7843-4F1D-BDB5-22482C4591E9}" type="slidenum">
              <a:rPr lang="en-US" smtClean="0"/>
              <a:t>‹#›</a:t>
            </a:fld>
            <a:endParaRPr lang="en-US" dirty="0"/>
          </a:p>
        </p:txBody>
      </p:sp>
    </p:spTree>
    <p:extLst>
      <p:ext uri="{BB962C8B-B14F-4D97-AF65-F5344CB8AC3E}">
        <p14:creationId xmlns:p14="http://schemas.microsoft.com/office/powerpoint/2010/main" val="210360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EF09111-A675-4B11-9402-D8D775151FA0}" type="slidenum">
              <a:rPr lang="en-IN" smtClean="0"/>
              <a:t>1</a:t>
            </a:fld>
            <a:endParaRPr lang="en-IN" dirty="0"/>
          </a:p>
        </p:txBody>
      </p:sp>
      <p:sp>
        <p:nvSpPr>
          <p:cNvPr id="5" name="Footer Placeholder 4">
            <a:extLst>
              <a:ext uri="{FF2B5EF4-FFF2-40B4-BE49-F238E27FC236}">
                <a16:creationId xmlns:a16="http://schemas.microsoft.com/office/drawing/2014/main" id="{3175E3E8-A31B-B7BE-6193-B93721FBBCDF}"/>
              </a:ext>
            </a:extLst>
          </p:cNvPr>
          <p:cNvSpPr>
            <a:spLocks noGrp="1"/>
          </p:cNvSpPr>
          <p:nvPr>
            <p:ph type="ftr" sz="quarter" idx="4"/>
          </p:nvPr>
        </p:nvSpPr>
        <p:spPr/>
        <p:txBody>
          <a:bodyPr/>
          <a:lstStyle/>
          <a:p>
            <a:r>
              <a:rPr lang="en-IN" dirty="0"/>
              <a:t>2</a:t>
            </a:r>
          </a:p>
        </p:txBody>
      </p:sp>
    </p:spTree>
    <p:extLst>
      <p:ext uri="{BB962C8B-B14F-4D97-AF65-F5344CB8AC3E}">
        <p14:creationId xmlns:p14="http://schemas.microsoft.com/office/powerpoint/2010/main" val="4180218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75359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90088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3557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4/29/2026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814916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4/29/2026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20047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90425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05147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4/29/2026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43114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4/29/2026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068730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55679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117332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30404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4/29/2026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467434942"/>
      </p:ext>
    </p:extLst>
  </p:cSld>
  <p:clrMap bg1="lt1" tx1="dk1" bg2="lt2" tx2="dk2" accent1="accent1" accent2="accent2" accent3="accent3" accent4="accent4" accent5="accent5" accent6="accent6" hlink="hlink" folHlink="folHlink"/>
  <p:sldLayoutIdLst>
    <p:sldLayoutId id="2147484151" r:id="rId1"/>
    <p:sldLayoutId id="2147484152" r:id="rId2"/>
    <p:sldLayoutId id="2147484153" r:id="rId3"/>
    <p:sldLayoutId id="2147484154" r:id="rId4"/>
    <p:sldLayoutId id="2147484155" r:id="rId5"/>
    <p:sldLayoutId id="2147484156" r:id="rId6"/>
    <p:sldLayoutId id="2147484157" r:id="rId7"/>
    <p:sldLayoutId id="2147484158" r:id="rId8"/>
    <p:sldLayoutId id="2147484159" r:id="rId9"/>
    <p:sldLayoutId id="2147484160" r:id="rId10"/>
    <p:sldLayoutId id="2147484161" r:id="rId11"/>
    <p:sldLayoutId id="21474841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2"/>
          <p:cNvSpPr txBox="1"/>
          <p:nvPr/>
        </p:nvSpPr>
        <p:spPr>
          <a:xfrm>
            <a:off x="1063849" y="-19195"/>
            <a:ext cx="574040" cy="224154"/>
          </a:xfrm>
          <a:prstGeom prst="rect">
            <a:avLst/>
          </a:prstGeom>
        </p:spPr>
        <p:txBody>
          <a:bodyPr vert="horz" wrap="square" lIns="0" tIns="0" rIns="0" bIns="0" rtlCol="0">
            <a:spAutoFit/>
          </a:bodyPr>
          <a:lstStyle/>
          <a:p>
            <a:pPr>
              <a:lnSpc>
                <a:spcPts val="1730"/>
              </a:lnSpc>
            </a:pPr>
            <a:r>
              <a:rPr sz="1500" b="1" dirty="0">
                <a:solidFill>
                  <a:srgbClr val="FFFFFF"/>
                </a:solidFill>
                <a:latin typeface="Cambria"/>
                <a:cs typeface="Cambria"/>
              </a:rPr>
              <a:t>M</a:t>
            </a:r>
            <a:r>
              <a:rPr sz="1500" b="1" spc="-40" dirty="0">
                <a:solidFill>
                  <a:srgbClr val="FFFFFF"/>
                </a:solidFill>
                <a:latin typeface="Cambria"/>
                <a:cs typeface="Cambria"/>
              </a:rPr>
              <a:t> </a:t>
            </a:r>
            <a:r>
              <a:rPr sz="1500" b="1" dirty="0">
                <a:solidFill>
                  <a:srgbClr val="FFFFFF"/>
                </a:solidFill>
                <a:latin typeface="Cambria"/>
                <a:cs typeface="Cambria"/>
              </a:rPr>
              <a:t>I</a:t>
            </a:r>
            <a:r>
              <a:rPr sz="1500" b="1" spc="30" dirty="0">
                <a:solidFill>
                  <a:srgbClr val="FFFFFF"/>
                </a:solidFill>
                <a:latin typeface="Cambria"/>
                <a:cs typeface="Cambria"/>
              </a:rPr>
              <a:t> </a:t>
            </a:r>
            <a:r>
              <a:rPr sz="1500" b="1" dirty="0">
                <a:solidFill>
                  <a:srgbClr val="FFFFFF"/>
                </a:solidFill>
                <a:latin typeface="Cambria"/>
                <a:cs typeface="Cambria"/>
              </a:rPr>
              <a:t>T</a:t>
            </a:r>
            <a:r>
              <a:rPr sz="1500" b="1" spc="-25" dirty="0">
                <a:solidFill>
                  <a:srgbClr val="FFFFFF"/>
                </a:solidFill>
                <a:latin typeface="Cambria"/>
                <a:cs typeface="Cambria"/>
              </a:rPr>
              <a:t> </a:t>
            </a:r>
            <a:r>
              <a:rPr sz="1500" b="1" spc="-50" dirty="0">
                <a:solidFill>
                  <a:srgbClr val="FFFFFF"/>
                </a:solidFill>
                <a:latin typeface="Cambria"/>
                <a:cs typeface="Cambria"/>
              </a:rPr>
              <a:t>S</a:t>
            </a:r>
            <a:endParaRPr sz="1500" dirty="0">
              <a:latin typeface="Cambria"/>
              <a:cs typeface="Cambria"/>
            </a:endParaRPr>
          </a:p>
        </p:txBody>
      </p:sp>
      <p:sp>
        <p:nvSpPr>
          <p:cNvPr id="4" name="object 4"/>
          <p:cNvSpPr/>
          <p:nvPr/>
        </p:nvSpPr>
        <p:spPr>
          <a:xfrm>
            <a:off x="675955" y="182089"/>
            <a:ext cx="10611488" cy="1253552"/>
          </a:xfrm>
          <a:custGeom>
            <a:avLst/>
            <a:gdLst/>
            <a:ahLst/>
            <a:cxnLst/>
            <a:rect l="l" t="t" r="r" b="b"/>
            <a:pathLst>
              <a:path w="9144000" h="942975">
                <a:moveTo>
                  <a:pt x="9144000" y="0"/>
                </a:moveTo>
                <a:lnTo>
                  <a:pt x="0" y="0"/>
                </a:lnTo>
                <a:lnTo>
                  <a:pt x="0" y="942975"/>
                </a:lnTo>
                <a:lnTo>
                  <a:pt x="9144000" y="942975"/>
                </a:lnTo>
                <a:lnTo>
                  <a:pt x="9144000" y="0"/>
                </a:lnTo>
                <a:close/>
              </a:path>
            </a:pathLst>
          </a:custGeom>
          <a:solidFill>
            <a:srgbClr val="E89B66"/>
          </a:solidFill>
        </p:spPr>
        <p:txBody>
          <a:bodyPr wrap="square" lIns="0" tIns="0" rIns="0" bIns="0" rtlCol="0"/>
          <a:lstStyle/>
          <a:p>
            <a:endParaRPr dirty="0"/>
          </a:p>
        </p:txBody>
      </p:sp>
      <p:sp>
        <p:nvSpPr>
          <p:cNvPr id="5" name="object 5"/>
          <p:cNvSpPr txBox="1">
            <a:spLocks noGrp="1"/>
          </p:cNvSpPr>
          <p:nvPr>
            <p:ph type="title"/>
          </p:nvPr>
        </p:nvSpPr>
        <p:spPr>
          <a:xfrm>
            <a:off x="2025782" y="204959"/>
            <a:ext cx="7745015" cy="1203919"/>
          </a:xfrm>
          <a:prstGeom prst="rect">
            <a:avLst/>
          </a:prstGeom>
          <a:solidFill>
            <a:schemeClr val="bg1"/>
          </a:solidFill>
        </p:spPr>
        <p:txBody>
          <a:bodyPr vert="horz" wrap="square" lIns="0" tIns="12700" rIns="0" bIns="0" rtlCol="0" anchor="ctr">
            <a:spAutoFit/>
          </a:bodyPr>
          <a:lstStyle/>
          <a:p>
            <a:pPr algn="ctr"/>
            <a:r>
              <a:rPr sz="2200" dirty="0">
                <a:solidFill>
                  <a:schemeClr val="tx1"/>
                </a:solidFill>
                <a:latin typeface="Cambria"/>
                <a:cs typeface="Cambria"/>
              </a:rPr>
              <a:t>Madanapalle</a:t>
            </a:r>
            <a:r>
              <a:rPr sz="2200" spc="-155" dirty="0">
                <a:solidFill>
                  <a:schemeClr val="tx1"/>
                </a:solidFill>
                <a:latin typeface="Cambria"/>
                <a:cs typeface="Cambria"/>
              </a:rPr>
              <a:t> </a:t>
            </a:r>
            <a:r>
              <a:rPr sz="2200" dirty="0">
                <a:solidFill>
                  <a:schemeClr val="tx1"/>
                </a:solidFill>
                <a:latin typeface="Cambria"/>
                <a:cs typeface="Cambria"/>
              </a:rPr>
              <a:t>Institute</a:t>
            </a:r>
            <a:r>
              <a:rPr sz="2200" spc="-105" dirty="0">
                <a:solidFill>
                  <a:schemeClr val="tx1"/>
                </a:solidFill>
                <a:latin typeface="Cambria"/>
                <a:cs typeface="Cambria"/>
              </a:rPr>
              <a:t> </a:t>
            </a:r>
            <a:r>
              <a:rPr sz="2200" dirty="0">
                <a:solidFill>
                  <a:schemeClr val="tx1"/>
                </a:solidFill>
                <a:latin typeface="Cambria"/>
                <a:cs typeface="Cambria"/>
              </a:rPr>
              <a:t>of</a:t>
            </a:r>
            <a:r>
              <a:rPr sz="2200" spc="40" dirty="0">
                <a:solidFill>
                  <a:schemeClr val="tx1"/>
                </a:solidFill>
                <a:latin typeface="Cambria"/>
                <a:cs typeface="Cambria"/>
              </a:rPr>
              <a:t> </a:t>
            </a:r>
            <a:r>
              <a:rPr sz="2200" spc="-10" dirty="0">
                <a:solidFill>
                  <a:schemeClr val="tx1"/>
                </a:solidFill>
                <a:latin typeface="Cambria"/>
                <a:cs typeface="Cambria"/>
              </a:rPr>
              <a:t>Technology</a:t>
            </a:r>
            <a:r>
              <a:rPr sz="2200" spc="-155" dirty="0">
                <a:solidFill>
                  <a:schemeClr val="tx1"/>
                </a:solidFill>
                <a:latin typeface="Cambria"/>
                <a:cs typeface="Cambria"/>
              </a:rPr>
              <a:t> </a:t>
            </a:r>
            <a:r>
              <a:rPr sz="2200" dirty="0">
                <a:solidFill>
                  <a:schemeClr val="tx1"/>
                </a:solidFill>
                <a:latin typeface="Cambria"/>
                <a:cs typeface="Cambria"/>
              </a:rPr>
              <a:t>&amp;</a:t>
            </a:r>
            <a:r>
              <a:rPr sz="2200" spc="-80" dirty="0">
                <a:solidFill>
                  <a:schemeClr val="tx1"/>
                </a:solidFill>
                <a:latin typeface="Cambria"/>
                <a:cs typeface="Cambria"/>
              </a:rPr>
              <a:t> </a:t>
            </a:r>
            <a:r>
              <a:rPr sz="2200" dirty="0">
                <a:solidFill>
                  <a:schemeClr val="tx1"/>
                </a:solidFill>
                <a:latin typeface="Cambria"/>
                <a:cs typeface="Cambria"/>
              </a:rPr>
              <a:t>Science,</a:t>
            </a:r>
            <a:r>
              <a:rPr sz="2200" spc="20" dirty="0">
                <a:solidFill>
                  <a:schemeClr val="tx1"/>
                </a:solidFill>
                <a:latin typeface="Cambria"/>
                <a:cs typeface="Cambria"/>
              </a:rPr>
              <a:t> </a:t>
            </a:r>
            <a:r>
              <a:rPr sz="2200" spc="-10" dirty="0">
                <a:solidFill>
                  <a:schemeClr val="tx1"/>
                </a:solidFill>
                <a:latin typeface="Cambria"/>
                <a:cs typeface="Cambria"/>
              </a:rPr>
              <a:t>Madanapall</a:t>
            </a:r>
            <a:r>
              <a:rPr lang="en-US" sz="2200" spc="-10" dirty="0">
                <a:solidFill>
                  <a:schemeClr val="tx1"/>
                </a:solidFill>
                <a:latin typeface="Cambria"/>
                <a:cs typeface="Cambria"/>
              </a:rPr>
              <a:t>e</a:t>
            </a:r>
            <a:br>
              <a:rPr lang="en-US" sz="2100" spc="-10" dirty="0">
                <a:solidFill>
                  <a:schemeClr val="tx1"/>
                </a:solidFill>
                <a:latin typeface="Cambria"/>
                <a:cs typeface="Cambria"/>
              </a:rPr>
            </a:br>
            <a:r>
              <a:rPr lang="en-US" sz="1400" dirty="0">
                <a:solidFill>
                  <a:schemeClr val="tx1"/>
                </a:solidFill>
              </a:rPr>
              <a:t>UGC-AUTONOMOUS INSTITUTION</a:t>
            </a:r>
            <a:br>
              <a:rPr lang="en-IN" sz="1400" dirty="0">
                <a:solidFill>
                  <a:schemeClr val="tx1"/>
                </a:solidFill>
              </a:rPr>
            </a:br>
            <a:r>
              <a:rPr lang="en-US" sz="1400" dirty="0">
                <a:solidFill>
                  <a:schemeClr val="tx1"/>
                </a:solidFill>
              </a:rPr>
              <a:t>Affiliated to JNTUA, Ananthapuramu &amp; Approved by AICTE, New Delhi</a:t>
            </a:r>
            <a:endParaRPr sz="1400" dirty="0">
              <a:solidFill>
                <a:schemeClr val="tx1"/>
              </a:solidFill>
              <a:latin typeface="Cambria"/>
              <a:cs typeface="Cambria"/>
            </a:endParaRPr>
          </a:p>
        </p:txBody>
      </p:sp>
      <p:sp>
        <p:nvSpPr>
          <p:cNvPr id="12" name="object 12"/>
          <p:cNvSpPr txBox="1">
            <a:spLocks noGrp="1"/>
          </p:cNvSpPr>
          <p:nvPr>
            <p:ph type="sldNum" sz="quarter" idx="12"/>
          </p:nvPr>
        </p:nvSpPr>
        <p:spPr>
          <a:prstGeom prst="rect">
            <a:avLst/>
          </a:prstGeom>
        </p:spPr>
        <p:txBody>
          <a:bodyPr vert="horz" wrap="square" lIns="0" tIns="0" rIns="0" bIns="0" rtlCol="0">
            <a:spAutoFit/>
          </a:bodyPr>
          <a:lstStyle>
            <a:defPPr>
              <a:defRPr kern="0"/>
            </a:defPPr>
            <a:lvl1pPr>
              <a:defRPr sz="1550" b="0" i="0">
                <a:solidFill>
                  <a:schemeClr val="bg1"/>
                </a:solidFill>
                <a:latin typeface="Calibri"/>
                <a:cs typeface="Calibri"/>
              </a:defRPr>
            </a:lvl1pPr>
          </a:lstStyle>
          <a:p>
            <a:pPr marL="38100">
              <a:lnSpc>
                <a:spcPts val="1595"/>
              </a:lnSpc>
            </a:pPr>
            <a:fld id="{81D60167-4931-47E6-BA6A-407CBD079E47}" type="slidenum">
              <a:rPr lang="en-IN" spc="-25" smtClean="0"/>
              <a:pPr marL="38100">
                <a:lnSpc>
                  <a:spcPts val="1595"/>
                </a:lnSpc>
              </a:pPr>
              <a:t>1</a:t>
            </a:fld>
            <a:endParaRPr spc="-25" dirty="0"/>
          </a:p>
        </p:txBody>
      </p:sp>
      <p:pic>
        <p:nvPicPr>
          <p:cNvPr id="6" name="object 6"/>
          <p:cNvPicPr/>
          <p:nvPr/>
        </p:nvPicPr>
        <p:blipFill>
          <a:blip r:embed="rId3" cstate="print"/>
          <a:stretch>
            <a:fillRect/>
          </a:stretch>
        </p:blipFill>
        <p:spPr>
          <a:xfrm>
            <a:off x="821591" y="247878"/>
            <a:ext cx="1105427" cy="1091436"/>
          </a:xfrm>
          <a:prstGeom prst="rect">
            <a:avLst/>
          </a:prstGeom>
        </p:spPr>
      </p:pic>
      <p:sp>
        <p:nvSpPr>
          <p:cNvPr id="10" name="Rounded Rectangle 9"/>
          <p:cNvSpPr/>
          <p:nvPr/>
        </p:nvSpPr>
        <p:spPr>
          <a:xfrm>
            <a:off x="1744346" y="1498449"/>
            <a:ext cx="8399354" cy="5092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00"/>
                </a:solidFill>
                <a:latin typeface="Cambria" panose="02040503050406030204" pitchFamily="18" charset="0"/>
                <a:ea typeface="Cambria" panose="02040503050406030204" pitchFamily="18" charset="0"/>
              </a:rPr>
              <a:t>Department of Computer Science and Technology</a:t>
            </a:r>
          </a:p>
        </p:txBody>
      </p:sp>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869561" y="227999"/>
            <a:ext cx="1311826" cy="1144747"/>
          </a:xfrm>
          <a:prstGeom prst="rect">
            <a:avLst/>
          </a:prstGeom>
        </p:spPr>
      </p:pic>
      <p:sp>
        <p:nvSpPr>
          <p:cNvPr id="3" name="Rectangle 2"/>
          <p:cNvSpPr/>
          <p:nvPr/>
        </p:nvSpPr>
        <p:spPr>
          <a:xfrm>
            <a:off x="1744346" y="2737514"/>
            <a:ext cx="8399355" cy="137121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endParaRPr lang="en-US" sz="2800" b="1" dirty="0">
              <a:latin typeface="Cambria" panose="02040503050406030204" pitchFamily="18" charset="0"/>
              <a:ea typeface="Cambria" panose="02040503050406030204" pitchFamily="18" charset="0"/>
            </a:endParaRPr>
          </a:p>
          <a:p>
            <a:endParaRPr lang="en-US" sz="2800" b="1" dirty="0">
              <a:latin typeface="Cambria" panose="02040503050406030204" pitchFamily="18" charset="0"/>
              <a:ea typeface="Cambria" panose="02040503050406030204" pitchFamily="18" charset="0"/>
            </a:endParaRPr>
          </a:p>
          <a:p>
            <a:pPr algn="ctr"/>
            <a:r>
              <a:rPr lang="en-US" sz="2800" b="1" dirty="0">
                <a:latin typeface="Cambria" panose="02040503050406030204" pitchFamily="18" charset="0"/>
                <a:ea typeface="Cambria" panose="02040503050406030204" pitchFamily="18" charset="0"/>
              </a:rPr>
              <a:t>Interactive Intelligence-Driven Feedback Interpretation and Insight Generation System for Enhanced Decision-Making</a:t>
            </a:r>
          </a:p>
          <a:p>
            <a:br>
              <a:rPr lang="en-US" sz="2800" b="1" dirty="0">
                <a:latin typeface="Cambria" panose="02040503050406030204" pitchFamily="18" charset="0"/>
                <a:ea typeface="Cambria" panose="02040503050406030204" pitchFamily="18" charset="0"/>
              </a:rPr>
            </a:br>
            <a:endParaRPr lang="en-US" sz="2800" b="1" dirty="0">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FD4847BA-A627-2F72-7C4C-1CAA9D3D38D6}"/>
              </a:ext>
            </a:extLst>
          </p:cNvPr>
          <p:cNvSpPr txBox="1"/>
          <p:nvPr/>
        </p:nvSpPr>
        <p:spPr>
          <a:xfrm>
            <a:off x="675955" y="4583105"/>
            <a:ext cx="4393885" cy="2031325"/>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Presenting by:</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22691A28G2	- V. SATHEESH</a:t>
            </a:r>
          </a:p>
          <a:p>
            <a:r>
              <a:rPr lang="en-IN" dirty="0">
                <a:latin typeface="Times New Roman" panose="02020603050405020304" pitchFamily="18" charset="0"/>
                <a:cs typeface="Times New Roman" panose="02020603050405020304" pitchFamily="18" charset="0"/>
              </a:rPr>
              <a:t>22691A28H1	- G. SOMU SHEKAR</a:t>
            </a:r>
          </a:p>
          <a:p>
            <a:r>
              <a:rPr lang="en-IN" dirty="0">
                <a:latin typeface="Times New Roman" panose="02020603050405020304" pitchFamily="18" charset="0"/>
                <a:cs typeface="Times New Roman" panose="02020603050405020304" pitchFamily="18" charset="0"/>
              </a:rPr>
              <a:t>22691A28H3	- R. SREEPATHI REDDY</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9" name="Rounded Rectangle 9">
            <a:extLst>
              <a:ext uri="{FF2B5EF4-FFF2-40B4-BE49-F238E27FC236}">
                <a16:creationId xmlns:a16="http://schemas.microsoft.com/office/drawing/2014/main" id="{38D935EE-B795-D5C1-578C-6449DFD9DDB9}"/>
              </a:ext>
            </a:extLst>
          </p:cNvPr>
          <p:cNvSpPr/>
          <p:nvPr/>
        </p:nvSpPr>
        <p:spPr>
          <a:xfrm>
            <a:off x="1757600" y="2117982"/>
            <a:ext cx="8399354" cy="5092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rgbClr val="FFFF00"/>
                </a:solidFill>
                <a:latin typeface="Cambria" panose="02040503050406030204" pitchFamily="18" charset="0"/>
                <a:ea typeface="Cambria" panose="02040503050406030204" pitchFamily="18" charset="0"/>
              </a:rPr>
              <a:t>Final Review</a:t>
            </a:r>
          </a:p>
        </p:txBody>
      </p:sp>
    </p:spTree>
    <p:extLst>
      <p:ext uri="{BB962C8B-B14F-4D97-AF65-F5344CB8AC3E}">
        <p14:creationId xmlns:p14="http://schemas.microsoft.com/office/powerpoint/2010/main" val="785170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C7A00-E20C-A11A-5560-05EF65305D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8D4A2-034B-A7E5-02E3-5C540463683C}"/>
              </a:ext>
            </a:extLst>
          </p:cNvPr>
          <p:cNvSpPr>
            <a:spLocks noGrp="1"/>
          </p:cNvSpPr>
          <p:nvPr>
            <p:ph type="title"/>
          </p:nvPr>
        </p:nvSpPr>
        <p:spPr>
          <a:xfrm>
            <a:off x="972830" y="231200"/>
            <a:ext cx="10364451" cy="741932"/>
          </a:xfrm>
        </p:spPr>
        <p:txBody>
          <a:bodyPr>
            <a:normAutofit fontScale="90000"/>
          </a:bodyPr>
          <a:lstStyle/>
          <a:p>
            <a:br>
              <a:rPr lang="en-IN" sz="2800" b="1" dirty="0">
                <a:latin typeface="Times New Roman" panose="02020603050405020304" pitchFamily="18" charset="0"/>
                <a:cs typeface="Times New Roman" panose="02020603050405020304" pitchFamily="18" charset="0"/>
              </a:rPr>
            </a:b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CONTENTS :</a:t>
            </a:r>
            <a:br>
              <a:rPr lang="en-IN" sz="2800" dirty="0"/>
            </a:br>
            <a:br>
              <a:rPr lang="en-IN" sz="2800" dirty="0"/>
            </a:br>
            <a:endParaRPr lang="en-IN" sz="2800" dirty="0"/>
          </a:p>
        </p:txBody>
      </p:sp>
      <p:sp>
        <p:nvSpPr>
          <p:cNvPr id="5" name="Rectangle 2">
            <a:extLst>
              <a:ext uri="{FF2B5EF4-FFF2-40B4-BE49-F238E27FC236}">
                <a16:creationId xmlns:a16="http://schemas.microsoft.com/office/drawing/2014/main" id="{3B40E0D3-CB88-FDFB-3F22-721E7AA47ABC}"/>
              </a:ext>
            </a:extLst>
          </p:cNvPr>
          <p:cNvSpPr>
            <a:spLocks noGrp="1" noChangeArrowheads="1"/>
          </p:cNvSpPr>
          <p:nvPr>
            <p:ph sz="quarter" idx="13"/>
          </p:nvPr>
        </p:nvSpPr>
        <p:spPr bwMode="auto">
          <a:xfrm>
            <a:off x="972830" y="1191140"/>
            <a:ext cx="10364143"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pPr>
            <a:r>
              <a:rPr lang="en-US" sz="2000" dirty="0">
                <a:latin typeface="Times New Roman" panose="02020603050405020304" pitchFamily="18" charset="0"/>
                <a:cs typeface="Times New Roman" panose="02020603050405020304" pitchFamily="18" charset="0"/>
              </a:rPr>
              <a:t>OBJECTIVE </a:t>
            </a:r>
          </a:p>
          <a:p>
            <a:pPr>
              <a:lnSpc>
                <a:spcPct val="100000"/>
              </a:lnSpc>
            </a:pPr>
            <a:r>
              <a:rPr lang="en-US" sz="2000" dirty="0">
                <a:latin typeface="Times New Roman" panose="02020603050405020304" pitchFamily="18" charset="0"/>
                <a:cs typeface="Times New Roman" panose="02020603050405020304" pitchFamily="18" charset="0"/>
              </a:rPr>
              <a:t>ABSTRACT</a:t>
            </a:r>
          </a:p>
          <a:p>
            <a:pPr>
              <a:lnSpc>
                <a:spcPct val="100000"/>
              </a:lnSpc>
            </a:pPr>
            <a:r>
              <a:rPr lang="en-US" sz="2000" dirty="0">
                <a:latin typeface="Times New Roman" panose="02020603050405020304" pitchFamily="18" charset="0"/>
                <a:cs typeface="Times New Roman" panose="02020603050405020304" pitchFamily="18" charset="0"/>
              </a:rPr>
              <a:t>EXISTING SYSTEM</a:t>
            </a:r>
          </a:p>
          <a:p>
            <a:pPr>
              <a:lnSpc>
                <a:spcPct val="100000"/>
              </a:lnSpc>
            </a:pPr>
            <a:r>
              <a:rPr lang="en-US" sz="2000" dirty="0">
                <a:latin typeface="Times New Roman" panose="02020603050405020304" pitchFamily="18" charset="0"/>
                <a:cs typeface="Times New Roman" panose="02020603050405020304" pitchFamily="18" charset="0"/>
              </a:rPr>
              <a:t>DISADVANTAGES</a:t>
            </a:r>
          </a:p>
          <a:p>
            <a:pPr>
              <a:lnSpc>
                <a:spcPct val="100000"/>
              </a:lnSpc>
            </a:pPr>
            <a:r>
              <a:rPr lang="en-US" sz="2000" dirty="0">
                <a:latin typeface="Times New Roman" panose="02020603050405020304" pitchFamily="18" charset="0"/>
                <a:cs typeface="Times New Roman" panose="02020603050405020304" pitchFamily="18" charset="0"/>
              </a:rPr>
              <a:t>PROPOSED SYSTEM</a:t>
            </a:r>
          </a:p>
          <a:p>
            <a:pPr>
              <a:lnSpc>
                <a:spcPct val="100000"/>
              </a:lnSpc>
            </a:pPr>
            <a:r>
              <a:rPr lang="en-US" sz="2000" dirty="0">
                <a:latin typeface="Times New Roman" panose="02020603050405020304" pitchFamily="18" charset="0"/>
                <a:cs typeface="Times New Roman" panose="02020603050405020304" pitchFamily="18" charset="0"/>
              </a:rPr>
              <a:t>ADVANTAGES</a:t>
            </a:r>
          </a:p>
          <a:p>
            <a:pPr>
              <a:lnSpc>
                <a:spcPct val="100000"/>
              </a:lnSpc>
            </a:pPr>
            <a:r>
              <a:rPr lang="en-US" sz="2000" dirty="0">
                <a:latin typeface="Times New Roman" panose="02020603050405020304" pitchFamily="18" charset="0"/>
                <a:cs typeface="Times New Roman" panose="02020603050405020304" pitchFamily="18" charset="0"/>
              </a:rPr>
              <a:t>RESEARCH GAP</a:t>
            </a:r>
          </a:p>
          <a:p>
            <a:pPr>
              <a:lnSpc>
                <a:spcPct val="100000"/>
              </a:lnSpc>
            </a:pPr>
            <a:r>
              <a:rPr lang="en-US" sz="2000" dirty="0">
                <a:latin typeface="Times New Roman" panose="02020603050405020304" pitchFamily="18" charset="0"/>
                <a:cs typeface="Times New Roman" panose="02020603050405020304" pitchFamily="18" charset="0"/>
              </a:rPr>
              <a:t>TENTATIVE METHODOLOGY</a:t>
            </a:r>
          </a:p>
          <a:p>
            <a:pPr>
              <a:lnSpc>
                <a:spcPct val="100000"/>
              </a:lnSpc>
            </a:pPr>
            <a:r>
              <a:rPr lang="en-US" sz="2000" dirty="0">
                <a:latin typeface="Times New Roman" panose="02020603050405020304" pitchFamily="18" charset="0"/>
                <a:cs typeface="Times New Roman" panose="02020603050405020304" pitchFamily="18" charset="0"/>
              </a:rPr>
              <a:t>CONCLUSION</a:t>
            </a:r>
            <a:br>
              <a:rPr lang="en-US" sz="2000" dirty="0">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622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1E0D4-6A9C-375D-E185-89EAB94BD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A701C-5A96-9A7F-0D49-28B8F8B9AD1E}"/>
              </a:ext>
            </a:extLst>
          </p:cNvPr>
          <p:cNvSpPr>
            <a:spLocks noGrp="1"/>
          </p:cNvSpPr>
          <p:nvPr>
            <p:ph type="title"/>
          </p:nvPr>
        </p:nvSpPr>
        <p:spPr>
          <a:xfrm>
            <a:off x="972830" y="231200"/>
            <a:ext cx="10364451" cy="741932"/>
          </a:xfrm>
        </p:spPr>
        <p:txBody>
          <a:bodyPr>
            <a:normAutofit fontScale="90000"/>
          </a:bodyPr>
          <a:lstStyle/>
          <a:p>
            <a:pPr algn="ctr"/>
            <a:br>
              <a:rPr lang="en-IN"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OBJECTIVE </a:t>
            </a:r>
            <a:br>
              <a:rPr lang="en-US" sz="2800" dirty="0"/>
            </a:br>
            <a:endParaRPr lang="en-IN" sz="2800" dirty="0"/>
          </a:p>
        </p:txBody>
      </p:sp>
      <p:sp>
        <p:nvSpPr>
          <p:cNvPr id="3" name="Content Placeholder 2">
            <a:extLst>
              <a:ext uri="{FF2B5EF4-FFF2-40B4-BE49-F238E27FC236}">
                <a16:creationId xmlns:a16="http://schemas.microsoft.com/office/drawing/2014/main" id="{D8908DCC-2251-31E3-2125-3FEDE4290ED0}"/>
              </a:ext>
            </a:extLst>
          </p:cNvPr>
          <p:cNvSpPr>
            <a:spLocks noGrp="1"/>
          </p:cNvSpPr>
          <p:nvPr>
            <p:ph sz="quarter" idx="13"/>
          </p:nvPr>
        </p:nvSpPr>
        <p:spPr>
          <a:xfrm>
            <a:off x="972829" y="932643"/>
            <a:ext cx="10364451" cy="5694157"/>
          </a:xfrm>
        </p:spPr>
        <p:txBody>
          <a:bodyPr>
            <a:normAutofit fontScale="92500" lnSpcReduction="20000"/>
          </a:bodyPr>
          <a:lstStyle/>
          <a:p>
            <a:pPr lvl="0" algn="just">
              <a:lnSpc>
                <a:spcPct val="150000"/>
              </a:lnSpc>
            </a:pPr>
            <a:r>
              <a:rPr lang="en-IN" sz="2200" b="1" dirty="0">
                <a:latin typeface="Times New Roman" panose="02020603050405020304" pitchFamily="18" charset="0"/>
                <a:cs typeface="Times New Roman" panose="02020603050405020304" pitchFamily="18" charset="0"/>
              </a:rPr>
              <a:t>To automate the extraction of key themes and topics</a:t>
            </a:r>
            <a:r>
              <a:rPr lang="en-IN" sz="2200" dirty="0">
                <a:latin typeface="Times New Roman" panose="02020603050405020304" pitchFamily="18" charset="0"/>
                <a:cs typeface="Times New Roman" panose="02020603050405020304" pitchFamily="18" charset="0"/>
              </a:rPr>
              <a:t> from large volumes of open-ended feedback using Natural Language Processing (NLP).</a:t>
            </a:r>
          </a:p>
          <a:p>
            <a:pPr lvl="0" algn="just">
              <a:lnSpc>
                <a:spcPct val="150000"/>
              </a:lnSpc>
            </a:pPr>
            <a:r>
              <a:rPr lang="en-IN" sz="2200" b="1" dirty="0">
                <a:latin typeface="Times New Roman" panose="02020603050405020304" pitchFamily="18" charset="0"/>
                <a:cs typeface="Times New Roman" panose="02020603050405020304" pitchFamily="18" charset="0"/>
              </a:rPr>
              <a:t>To implement an intelligent clustering pipeline</a:t>
            </a:r>
            <a:r>
              <a:rPr lang="en-IN" sz="2200" dirty="0">
                <a:latin typeface="Times New Roman" panose="02020603050405020304" pitchFamily="18" charset="0"/>
                <a:cs typeface="Times New Roman" panose="02020603050405020304" pitchFamily="18" charset="0"/>
              </a:rPr>
              <a:t> using algorithms like K-Means or DBSCAN to group semantically similar user responses.</a:t>
            </a:r>
          </a:p>
          <a:p>
            <a:pPr lvl="0" algn="just">
              <a:lnSpc>
                <a:spcPct val="150000"/>
              </a:lnSpc>
            </a:pPr>
            <a:r>
              <a:rPr lang="en-IN" sz="2200" b="1" dirty="0">
                <a:latin typeface="Times New Roman" panose="02020603050405020304" pitchFamily="18" charset="0"/>
                <a:cs typeface="Times New Roman" panose="02020603050405020304" pitchFamily="18" charset="0"/>
              </a:rPr>
              <a:t>To integrate cross-platform data acquisition</a:t>
            </a:r>
            <a:r>
              <a:rPr lang="en-IN" sz="2200" dirty="0">
                <a:latin typeface="Times New Roman" panose="02020603050405020304" pitchFamily="18" charset="0"/>
                <a:cs typeface="Times New Roman" panose="02020603050405020304" pitchFamily="18" charset="0"/>
              </a:rPr>
              <a:t> by fetching real-time feedback directly from Google Sheets and Google Forms via API.</a:t>
            </a:r>
          </a:p>
          <a:p>
            <a:pPr lvl="0" algn="just">
              <a:lnSpc>
                <a:spcPct val="150000"/>
              </a:lnSpc>
            </a:pPr>
            <a:r>
              <a:rPr lang="en-IN" sz="2200" b="1" dirty="0">
                <a:latin typeface="Times New Roman" panose="02020603050405020304" pitchFamily="18" charset="0"/>
                <a:cs typeface="Times New Roman" panose="02020603050405020304" pitchFamily="18" charset="0"/>
              </a:rPr>
              <a:t>To generate actionable summaries and insights</a:t>
            </a:r>
            <a:r>
              <a:rPr lang="en-IN" sz="2200" dirty="0">
                <a:latin typeface="Times New Roman" panose="02020603050405020304" pitchFamily="18" charset="0"/>
                <a:cs typeface="Times New Roman" panose="02020603050405020304" pitchFamily="18" charset="0"/>
              </a:rPr>
              <a:t> by synthesizing clustered data with large language models like </a:t>
            </a:r>
            <a:r>
              <a:rPr lang="en-IN" sz="2200" b="1" dirty="0">
                <a:latin typeface="Times New Roman" panose="02020603050405020304" pitchFamily="18" charset="0"/>
                <a:cs typeface="Times New Roman" panose="02020603050405020304" pitchFamily="18" charset="0"/>
              </a:rPr>
              <a:t>Gemini 1.5 Flash</a:t>
            </a:r>
            <a:r>
              <a:rPr lang="en-IN" sz="2200" dirty="0">
                <a:latin typeface="Times New Roman" panose="02020603050405020304" pitchFamily="18" charset="0"/>
                <a:cs typeface="Times New Roman" panose="02020603050405020304" pitchFamily="18" charset="0"/>
              </a:rPr>
              <a:t>.</a:t>
            </a:r>
          </a:p>
          <a:p>
            <a:pPr lvl="0" algn="just">
              <a:lnSpc>
                <a:spcPct val="150000"/>
              </a:lnSpc>
            </a:pPr>
            <a:r>
              <a:rPr lang="en-IN" sz="2200" b="1" dirty="0">
                <a:latin typeface="Times New Roman" panose="02020603050405020304" pitchFamily="18" charset="0"/>
                <a:cs typeface="Times New Roman" panose="02020603050405020304" pitchFamily="18" charset="0"/>
              </a:rPr>
              <a:t>To develop an interactive visualization dashboard</a:t>
            </a:r>
            <a:r>
              <a:rPr lang="en-IN" sz="2200" dirty="0">
                <a:latin typeface="Times New Roman" panose="02020603050405020304" pitchFamily="18" charset="0"/>
                <a:cs typeface="Times New Roman" panose="02020603050405020304" pitchFamily="18" charset="0"/>
              </a:rPr>
              <a:t> using React to present data-driven insights and theme distributions for faster decision-</a:t>
            </a:r>
            <a:r>
              <a:rPr lang="en-IN" sz="2200" dirty="0" err="1">
                <a:latin typeface="Times New Roman" panose="02020603050405020304" pitchFamily="18" charset="0"/>
                <a:cs typeface="Times New Roman" panose="02020603050405020304" pitchFamily="18" charset="0"/>
              </a:rPr>
              <a:t>making.To</a:t>
            </a:r>
            <a:r>
              <a:rPr lang="en-IN" sz="2200" dirty="0">
                <a:latin typeface="Times New Roman" panose="02020603050405020304" pitchFamily="18" charset="0"/>
                <a:cs typeface="Times New Roman" panose="02020603050405020304" pitchFamily="18" charset="0"/>
              </a:rPr>
              <a:t> evaluate the efficiency of keyword extraction by comparing techniques such as TF-IDF and </a:t>
            </a:r>
            <a:r>
              <a:rPr lang="en-IN" sz="2200" dirty="0" err="1">
                <a:latin typeface="Times New Roman" panose="02020603050405020304" pitchFamily="18" charset="0"/>
                <a:cs typeface="Times New Roman" panose="02020603050405020304" pitchFamily="18" charset="0"/>
              </a:rPr>
              <a:t>KeyBERT</a:t>
            </a:r>
            <a:r>
              <a:rPr lang="en-IN" sz="2200" dirty="0">
                <a:latin typeface="Times New Roman" panose="02020603050405020304" pitchFamily="18" charset="0"/>
                <a:cs typeface="Times New Roman" panose="02020603050405020304" pitchFamily="18" charset="0"/>
              </a:rPr>
              <a:t> across various feedback datasets.</a:t>
            </a: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5549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04DAE-1EAC-BA87-8628-AC2C25D95F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454432-9565-A4C5-694A-8843015AD9A2}"/>
              </a:ext>
            </a:extLst>
          </p:cNvPr>
          <p:cNvSpPr>
            <a:spLocks noGrp="1"/>
          </p:cNvSpPr>
          <p:nvPr>
            <p:ph type="title"/>
          </p:nvPr>
        </p:nvSpPr>
        <p:spPr>
          <a:xfrm>
            <a:off x="972830" y="231200"/>
            <a:ext cx="10364451" cy="741932"/>
          </a:xfrm>
        </p:spPr>
        <p:txBody>
          <a:bodyPr>
            <a:normAutofit/>
          </a:bodyPr>
          <a:lstStyle/>
          <a:p>
            <a:pPr algn="ctr"/>
            <a:r>
              <a:rPr lang="en-IN" sz="2800" b="1" dirty="0">
                <a:latin typeface="Times New Roman" panose="02020603050405020304" pitchFamily="18" charset="0"/>
                <a:cs typeface="Times New Roman" panose="02020603050405020304" pitchFamily="18" charset="0"/>
              </a:rPr>
              <a:t>ABSTRACT</a:t>
            </a:r>
            <a:endParaRPr lang="en-IN" sz="2800" dirty="0"/>
          </a:p>
        </p:txBody>
      </p:sp>
      <p:sp>
        <p:nvSpPr>
          <p:cNvPr id="3" name="Content Placeholder 2">
            <a:extLst>
              <a:ext uri="{FF2B5EF4-FFF2-40B4-BE49-F238E27FC236}">
                <a16:creationId xmlns:a16="http://schemas.microsoft.com/office/drawing/2014/main" id="{928D6446-F1FA-2C26-E9F0-42465DBFD566}"/>
              </a:ext>
            </a:extLst>
          </p:cNvPr>
          <p:cNvSpPr>
            <a:spLocks noGrp="1"/>
          </p:cNvSpPr>
          <p:nvPr>
            <p:ph sz="quarter" idx="13"/>
          </p:nvPr>
        </p:nvSpPr>
        <p:spPr>
          <a:xfrm>
            <a:off x="972830" y="932643"/>
            <a:ext cx="10364451" cy="5694157"/>
          </a:xfrm>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Smart Feedback AI is an intelligent platform that leverages NLP to analyze open-ended feedback from sources like Google Forms and Sheets. It identifies key themes, extracts actionable insights to support faster, data-driven decision-making.</a:t>
            </a:r>
          </a:p>
          <a:p>
            <a:pPr algn="just">
              <a:lnSpc>
                <a:spcPct val="150000"/>
              </a:lnSpc>
            </a:pPr>
            <a:r>
              <a:rPr lang="en-US" sz="2000" dirty="0">
                <a:latin typeface="Times New Roman" panose="02020603050405020304" pitchFamily="18" charset="0"/>
                <a:cs typeface="Times New Roman" panose="02020603050405020304" pitchFamily="18" charset="0"/>
              </a:rPr>
              <a:t>The platform reduces the time spent on manual analysis, enhances responses to real user experiences, and can structure unorganized textual data into actionable formats.</a:t>
            </a:r>
          </a:p>
          <a:p>
            <a:pPr algn="just">
              <a:lnSpc>
                <a:spcPct val="150000"/>
              </a:lnSpc>
            </a:pPr>
            <a:r>
              <a:rPr lang="en-US" sz="2000" dirty="0">
                <a:latin typeface="Times New Roman" panose="02020603050405020304" pitchFamily="18" charset="0"/>
                <a:cs typeface="Times New Roman" panose="02020603050405020304" pitchFamily="18" charset="0"/>
              </a:rPr>
              <a:t>Additionally, ensuring consistent and accurate analysis across large datasets. It also presents insights through clear visualizations, helping organizations quickly understand trends and improve actions.</a:t>
            </a:r>
          </a:p>
        </p:txBody>
      </p:sp>
    </p:spTree>
    <p:extLst>
      <p:ext uri="{BB962C8B-B14F-4D97-AF65-F5344CB8AC3E}">
        <p14:creationId xmlns:p14="http://schemas.microsoft.com/office/powerpoint/2010/main" val="128432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3926E-9627-46DF-B70A-F2839A1D2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84D5BF-CF63-D20A-41EA-5BA52EAD9FF1}"/>
              </a:ext>
            </a:extLst>
          </p:cNvPr>
          <p:cNvSpPr>
            <a:spLocks noGrp="1"/>
          </p:cNvSpPr>
          <p:nvPr>
            <p:ph type="title"/>
          </p:nvPr>
        </p:nvSpPr>
        <p:spPr>
          <a:xfrm>
            <a:off x="972830" y="231200"/>
            <a:ext cx="10364451" cy="741932"/>
          </a:xfrm>
        </p:spPr>
        <p:txBody>
          <a:bodyPr>
            <a:normAutofit/>
          </a:bodyPr>
          <a:lstStyle/>
          <a:p>
            <a:pPr algn="ctr"/>
            <a:r>
              <a:rPr lang="en-IN" sz="2800" b="1" dirty="0">
                <a:latin typeface="Times New Roman" panose="02020603050405020304" pitchFamily="18" charset="0"/>
                <a:cs typeface="Times New Roman" panose="02020603050405020304" pitchFamily="18" charset="0"/>
              </a:rPr>
              <a:t>EXISTING SYSTEM</a:t>
            </a:r>
            <a:endParaRPr lang="en-IN" sz="2800" dirty="0"/>
          </a:p>
        </p:txBody>
      </p:sp>
      <p:sp>
        <p:nvSpPr>
          <p:cNvPr id="3" name="Content Placeholder 2">
            <a:extLst>
              <a:ext uri="{FF2B5EF4-FFF2-40B4-BE49-F238E27FC236}">
                <a16:creationId xmlns:a16="http://schemas.microsoft.com/office/drawing/2014/main" id="{653ABA59-F118-9F8A-71A7-6AC205972FBC}"/>
              </a:ext>
            </a:extLst>
          </p:cNvPr>
          <p:cNvSpPr>
            <a:spLocks noGrp="1"/>
          </p:cNvSpPr>
          <p:nvPr>
            <p:ph sz="quarter" idx="13"/>
          </p:nvPr>
        </p:nvSpPr>
        <p:spPr>
          <a:xfrm>
            <a:off x="972830" y="932643"/>
            <a:ext cx="10364451" cy="5694157"/>
          </a:xfrm>
        </p:spPr>
        <p:txBody>
          <a:bodyPr>
            <a:normAutofit fontScale="92500" lnSpcReduction="10000"/>
          </a:bodyPr>
          <a:lstStyle/>
          <a:p>
            <a:pPr marL="0" indent="0" algn="just">
              <a:lnSpc>
                <a:spcPct val="160000"/>
              </a:lnSpc>
              <a:buNone/>
            </a:pPr>
            <a:r>
              <a:rPr lang="en-US" sz="2200" dirty="0">
                <a:latin typeface="Times New Roman" panose="02020603050405020304" pitchFamily="18" charset="0"/>
                <a:cs typeface="Times New Roman" panose="02020603050405020304" pitchFamily="18" charset="0"/>
              </a:rPr>
              <a:t>Current systems used for feedback analysis have several limitations. </a:t>
            </a:r>
          </a:p>
          <a:p>
            <a:pPr marL="0" indent="0" algn="just">
              <a:lnSpc>
                <a:spcPct val="160000"/>
              </a:lnSpc>
              <a:buNone/>
            </a:pPr>
            <a:r>
              <a:rPr lang="en-US" sz="2200" dirty="0">
                <a:latin typeface="Times New Roman" panose="02020603050405020304" pitchFamily="18" charset="0"/>
                <a:cs typeface="Times New Roman" panose="02020603050405020304" pitchFamily="18" charset="0"/>
              </a:rPr>
              <a:t>General AI models sometimes give unexpected or incorrect answers, and their responses can change depending on how the question is asked. They usually provide only basic summaries and do not clearly show which keywords or feedback points were used to create those summaries. This makes the results hard to trust or verify.</a:t>
            </a:r>
          </a:p>
          <a:p>
            <a:pPr marL="0" indent="0" algn="just">
              <a:lnSpc>
                <a:spcPct val="160000"/>
              </a:lnSpc>
              <a:buNone/>
            </a:pPr>
            <a:r>
              <a:rPr lang="en-US" sz="2200" dirty="0">
                <a:latin typeface="Times New Roman" panose="02020603050405020304" pitchFamily="18" charset="0"/>
                <a:cs typeface="Times New Roman" panose="02020603050405020304" pitchFamily="18" charset="0"/>
              </a:rPr>
              <a:t>Traditional feedback systems mostly depend on manual work, such as tagging feedback by hand, using simple sentiment checks (positive/negative), and managing data in spreadsheets. These methods are slow, repetitive, and difficult to manage when large amounts of feedback are involved. Also, existing systems: </a:t>
            </a:r>
          </a:p>
          <a:p>
            <a:pPr marL="800100" lvl="3" indent="-342900" algn="just">
              <a:lnSpc>
                <a:spcPct val="160000"/>
              </a:lnSpc>
              <a:spcBef>
                <a:spcPts val="1000"/>
              </a:spcBef>
            </a:pPr>
            <a:r>
              <a:rPr lang="en-US" sz="2000" dirty="0">
                <a:latin typeface="Times New Roman" panose="02020603050405020304" pitchFamily="18" charset="0"/>
                <a:cs typeface="Times New Roman" panose="02020603050405020304" pitchFamily="18" charset="0"/>
              </a:rPr>
              <a:t>Cannot automatically group similar feedback together</a:t>
            </a:r>
          </a:p>
          <a:p>
            <a:pPr marL="800100" lvl="3" indent="-342900" algn="just">
              <a:lnSpc>
                <a:spcPct val="160000"/>
              </a:lnSpc>
              <a:spcBef>
                <a:spcPts val="1000"/>
              </a:spcBef>
            </a:pPr>
            <a:r>
              <a:rPr lang="en-US" sz="2000" dirty="0">
                <a:latin typeface="Times New Roman" panose="02020603050405020304" pitchFamily="18" charset="0"/>
                <a:cs typeface="Times New Roman" panose="02020603050405020304" pitchFamily="18" charset="0"/>
              </a:rPr>
              <a:t> Do not understand the full meaning or context of user comments</a:t>
            </a:r>
          </a:p>
        </p:txBody>
      </p:sp>
    </p:spTree>
    <p:extLst>
      <p:ext uri="{BB962C8B-B14F-4D97-AF65-F5344CB8AC3E}">
        <p14:creationId xmlns:p14="http://schemas.microsoft.com/office/powerpoint/2010/main" val="810441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A83D7-9D87-130C-B4C1-466BC0B4D5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C8D868-1496-9F6B-CCD8-61CEA69DDEF2}"/>
              </a:ext>
            </a:extLst>
          </p:cNvPr>
          <p:cNvSpPr>
            <a:spLocks noGrp="1"/>
          </p:cNvSpPr>
          <p:nvPr>
            <p:ph type="title"/>
          </p:nvPr>
        </p:nvSpPr>
        <p:spPr>
          <a:xfrm>
            <a:off x="972830" y="231200"/>
            <a:ext cx="10364451" cy="741932"/>
          </a:xfrm>
        </p:spPr>
        <p:txBody>
          <a:bodyPr>
            <a:normAutofit/>
          </a:bodyPr>
          <a:lstStyle/>
          <a:p>
            <a:pPr algn="ctr"/>
            <a:r>
              <a:rPr lang="en-IN" sz="2800" b="1" dirty="0">
                <a:latin typeface="Times New Roman" panose="02020603050405020304" pitchFamily="18" charset="0"/>
                <a:cs typeface="Times New Roman" panose="02020603050405020304" pitchFamily="18" charset="0"/>
              </a:rPr>
              <a:t>DISADVANTAGES</a:t>
            </a:r>
            <a:endParaRPr lang="en-IN" sz="2800" dirty="0"/>
          </a:p>
        </p:txBody>
      </p:sp>
      <p:sp>
        <p:nvSpPr>
          <p:cNvPr id="3" name="Content Placeholder 2">
            <a:extLst>
              <a:ext uri="{FF2B5EF4-FFF2-40B4-BE49-F238E27FC236}">
                <a16:creationId xmlns:a16="http://schemas.microsoft.com/office/drawing/2014/main" id="{0D72C0F7-0218-5D8C-8E32-CA9F1CAFF320}"/>
              </a:ext>
            </a:extLst>
          </p:cNvPr>
          <p:cNvSpPr>
            <a:spLocks noGrp="1"/>
          </p:cNvSpPr>
          <p:nvPr>
            <p:ph sz="quarter" idx="13"/>
          </p:nvPr>
        </p:nvSpPr>
        <p:spPr>
          <a:xfrm>
            <a:off x="972829" y="932643"/>
            <a:ext cx="10364451" cy="5694157"/>
          </a:xfrm>
        </p:spPr>
        <p:txBody>
          <a:bodyPr>
            <a:noAutofit/>
          </a:bodyPr>
          <a:lstStyle/>
          <a:p>
            <a:pPr lvl="0">
              <a:lnSpc>
                <a:spcPct val="100000"/>
              </a:lnSpc>
            </a:pPr>
            <a:r>
              <a:rPr lang="en-IN" sz="2000" b="1" dirty="0">
                <a:latin typeface="Times New Roman" panose="02020603050405020304" pitchFamily="18" charset="0"/>
                <a:cs typeface="Times New Roman" panose="02020603050405020304" pitchFamily="18" charset="0"/>
              </a:rPr>
              <a:t>Lack of Explainability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Insights are generated without clear reasoning or traceability to the original feedback.</a:t>
            </a:r>
          </a:p>
          <a:p>
            <a:pPr>
              <a:lnSpc>
                <a:spcPct val="100000"/>
              </a:lnSpc>
            </a:pPr>
            <a:r>
              <a:rPr lang="en-IN" sz="2000" b="1" dirty="0">
                <a:latin typeface="Times New Roman" panose="02020603050405020304" pitchFamily="18" charset="0"/>
                <a:cs typeface="Times New Roman" panose="02020603050405020304" pitchFamily="18" charset="0"/>
              </a:rPr>
              <a:t>Inconsistent Outputs</a:t>
            </a: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Results vary based on prompt wording, leading to unreliable and unstable analysis.</a:t>
            </a:r>
          </a:p>
          <a:p>
            <a:pPr>
              <a:lnSpc>
                <a:spcPct val="100000"/>
              </a:lnSpc>
            </a:pPr>
            <a:r>
              <a:rPr lang="en-IN" sz="2000" b="1" dirty="0">
                <a:latin typeface="Times New Roman" panose="02020603050405020304" pitchFamily="18" charset="0"/>
                <a:cs typeface="Times New Roman" panose="02020603050405020304" pitchFamily="18" charset="0"/>
              </a:rPr>
              <a:t>Manual Dependency</a:t>
            </a: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Heavy reliance on human effort for categorization and sorting increases time and error rates.</a:t>
            </a:r>
          </a:p>
          <a:p>
            <a:pPr>
              <a:lnSpc>
                <a:spcPct val="100000"/>
              </a:lnSpc>
            </a:pPr>
            <a:r>
              <a:rPr lang="en-IN" sz="2000" b="1" dirty="0">
                <a:latin typeface="Times New Roman" panose="02020603050405020304" pitchFamily="18" charset="0"/>
                <a:cs typeface="Times New Roman" panose="02020603050405020304" pitchFamily="18" charset="0"/>
              </a:rPr>
              <a:t>No Semantic Clustering</a:t>
            </a: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Similar feedback is not automatically grouped, missing meaningful patterns.</a:t>
            </a:r>
          </a:p>
          <a:p>
            <a:pPr>
              <a:lnSpc>
                <a:spcPct val="100000"/>
              </a:lnSpc>
            </a:pPr>
            <a:r>
              <a:rPr lang="en-IN" sz="2000" b="1" dirty="0">
                <a:latin typeface="Times New Roman" panose="02020603050405020304" pitchFamily="18" charset="0"/>
                <a:cs typeface="Times New Roman" panose="02020603050405020304" pitchFamily="18" charset="0"/>
              </a:rPr>
              <a:t>Limited Context Understanding</a:t>
            </a: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Systems fail to capture deeper meaning, intent, or relationships between feedback.</a:t>
            </a:r>
          </a:p>
          <a:p>
            <a:pPr>
              <a:lnSpc>
                <a:spcPct val="100000"/>
              </a:lnSpc>
            </a:pPr>
            <a:r>
              <a:rPr lang="en-IN" sz="2000" b="1" dirty="0">
                <a:latin typeface="Times New Roman" panose="02020603050405020304" pitchFamily="18" charset="0"/>
                <a:cs typeface="Times New Roman" panose="02020603050405020304" pitchFamily="18" charset="0"/>
              </a:rPr>
              <a:t>Basic Sentiment Analysis</a:t>
            </a: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Only surface‑level positive/negative sentiment is identified, ignoring nuances.</a:t>
            </a:r>
          </a:p>
          <a:p>
            <a:pPr>
              <a:lnSpc>
                <a:spcPct val="100000"/>
              </a:lnSpc>
            </a:pPr>
            <a:r>
              <a:rPr lang="en-IN" sz="2000" b="1" dirty="0">
                <a:latin typeface="Times New Roman" panose="02020603050405020304" pitchFamily="18" charset="0"/>
                <a:cs typeface="Times New Roman" panose="02020603050405020304" pitchFamily="18" charset="0"/>
              </a:rPr>
              <a:t>Poor Scalability</a:t>
            </a:r>
            <a:br>
              <a:rPr lang="en-IN" sz="2000" b="1"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Struggles to handle large volumes of feedback efficiently.</a:t>
            </a:r>
          </a:p>
        </p:txBody>
      </p:sp>
    </p:spTree>
    <p:extLst>
      <p:ext uri="{BB962C8B-B14F-4D97-AF65-F5344CB8AC3E}">
        <p14:creationId xmlns:p14="http://schemas.microsoft.com/office/powerpoint/2010/main" val="3675079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DEC8C-66A1-5B46-E96E-9C1C4230F6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54BF1-ABBE-E6E8-3074-97FCA993854E}"/>
              </a:ext>
            </a:extLst>
          </p:cNvPr>
          <p:cNvSpPr>
            <a:spLocks noGrp="1"/>
          </p:cNvSpPr>
          <p:nvPr>
            <p:ph type="title"/>
          </p:nvPr>
        </p:nvSpPr>
        <p:spPr>
          <a:xfrm>
            <a:off x="972830" y="231200"/>
            <a:ext cx="10364451" cy="741932"/>
          </a:xfrm>
        </p:spPr>
        <p:txBody>
          <a:bodyPr>
            <a:normAutofit/>
          </a:bodyPr>
          <a:lstStyle/>
          <a:p>
            <a:pPr algn="ctr"/>
            <a:r>
              <a:rPr lang="en-IN" sz="2800" b="1" dirty="0">
                <a:latin typeface="Times New Roman" panose="02020603050405020304" pitchFamily="18" charset="0"/>
                <a:cs typeface="Times New Roman" panose="02020603050405020304" pitchFamily="18" charset="0"/>
              </a:rPr>
              <a:t>PROPOSED SYSTEM</a:t>
            </a:r>
            <a:endParaRPr lang="en-IN" sz="2800" dirty="0"/>
          </a:p>
        </p:txBody>
      </p:sp>
      <p:sp>
        <p:nvSpPr>
          <p:cNvPr id="3" name="Content Placeholder 2">
            <a:extLst>
              <a:ext uri="{FF2B5EF4-FFF2-40B4-BE49-F238E27FC236}">
                <a16:creationId xmlns:a16="http://schemas.microsoft.com/office/drawing/2014/main" id="{037E41C3-C8CB-C665-A5F1-6EDFB49BD0E3}"/>
              </a:ext>
            </a:extLst>
          </p:cNvPr>
          <p:cNvSpPr>
            <a:spLocks noGrp="1"/>
          </p:cNvSpPr>
          <p:nvPr>
            <p:ph sz="quarter" idx="13"/>
          </p:nvPr>
        </p:nvSpPr>
        <p:spPr>
          <a:xfrm>
            <a:off x="972829" y="932643"/>
            <a:ext cx="10364451" cy="5694157"/>
          </a:xfrm>
        </p:spPr>
        <p:txBody>
          <a:bodyPr>
            <a:normAutofit fontScale="62500" lnSpcReduction="20000"/>
          </a:bodyPr>
          <a:lstStyle/>
          <a:p>
            <a:pPr lvl="0" algn="just">
              <a:lnSpc>
                <a:spcPct val="150000"/>
              </a:lnSpc>
            </a:pPr>
            <a:r>
              <a:rPr lang="en-IN" sz="3200" dirty="0">
                <a:latin typeface="Times New Roman" panose="02020603050405020304" pitchFamily="18" charset="0"/>
                <a:cs typeface="Times New Roman" panose="02020603050405020304" pitchFamily="18" charset="0"/>
              </a:rPr>
              <a:t>The proposed system follows a </a:t>
            </a:r>
            <a:r>
              <a:rPr lang="en-IN" sz="3200" b="1" dirty="0">
                <a:latin typeface="Times New Roman" panose="02020603050405020304" pitchFamily="18" charset="0"/>
                <a:cs typeface="Times New Roman" panose="02020603050405020304" pitchFamily="18" charset="0"/>
              </a:rPr>
              <a:t>hybrid architecture</a:t>
            </a:r>
            <a:r>
              <a:rPr lang="en-IN" sz="3200" dirty="0">
                <a:latin typeface="Times New Roman" panose="02020603050405020304" pitchFamily="18" charset="0"/>
                <a:cs typeface="Times New Roman" panose="02020603050405020304" pitchFamily="18" charset="0"/>
              </a:rPr>
              <a:t> designed to provide accurate, explainable, and scalable feedback analysis. The process begins with </a:t>
            </a:r>
            <a:r>
              <a:rPr lang="en-IN" sz="3200" b="1" dirty="0">
                <a:latin typeface="Times New Roman" panose="02020603050405020304" pitchFamily="18" charset="0"/>
                <a:cs typeface="Times New Roman" panose="02020603050405020304" pitchFamily="18" charset="0"/>
              </a:rPr>
              <a:t>feedback collection</a:t>
            </a:r>
            <a:r>
              <a:rPr lang="en-IN" sz="3200" dirty="0">
                <a:latin typeface="Times New Roman" panose="02020603050405020304" pitchFamily="18" charset="0"/>
                <a:cs typeface="Times New Roman" panose="02020603050405020304" pitchFamily="18" charset="0"/>
              </a:rPr>
              <a:t> from sources such as Google Sheets using APIs to ensure seamless data ingestion. </a:t>
            </a:r>
          </a:p>
          <a:p>
            <a:pPr lvl="0" algn="just">
              <a:lnSpc>
                <a:spcPct val="150000"/>
              </a:lnSpc>
            </a:pPr>
            <a:r>
              <a:rPr lang="en-IN" sz="3200" dirty="0">
                <a:latin typeface="Times New Roman" panose="02020603050405020304" pitchFamily="18" charset="0"/>
                <a:cs typeface="Times New Roman" panose="02020603050405020304" pitchFamily="18" charset="0"/>
              </a:rPr>
              <a:t>The collected feedback is then passed through a </a:t>
            </a:r>
            <a:r>
              <a:rPr lang="en-IN" sz="3200" b="1" dirty="0">
                <a:latin typeface="Times New Roman" panose="02020603050405020304" pitchFamily="18" charset="0"/>
                <a:cs typeface="Times New Roman" panose="02020603050405020304" pitchFamily="18" charset="0"/>
              </a:rPr>
              <a:t>preprocessing stage</a:t>
            </a:r>
            <a:r>
              <a:rPr lang="en-IN" sz="3200" dirty="0">
                <a:latin typeface="Times New Roman" panose="02020603050405020304" pitchFamily="18" charset="0"/>
                <a:cs typeface="Times New Roman" panose="02020603050405020304" pitchFamily="18" charset="0"/>
              </a:rPr>
              <a:t>, where the text is cleaned and converted into semantic </a:t>
            </a:r>
            <a:r>
              <a:rPr lang="en-IN" sz="3200" b="1" dirty="0">
                <a:latin typeface="Times New Roman" panose="02020603050405020304" pitchFamily="18" charset="0"/>
                <a:cs typeface="Times New Roman" panose="02020603050405020304" pitchFamily="18" charset="0"/>
              </a:rPr>
              <a:t>embeddings</a:t>
            </a:r>
            <a:r>
              <a:rPr lang="en-IN" sz="3200" dirty="0">
                <a:latin typeface="Times New Roman" panose="02020603050405020304" pitchFamily="18" charset="0"/>
                <a:cs typeface="Times New Roman" panose="02020603050405020304" pitchFamily="18" charset="0"/>
              </a:rPr>
              <a:t> for better contextual understanding. Next, the system performs </a:t>
            </a:r>
            <a:r>
              <a:rPr lang="en-IN" sz="3200" b="1" dirty="0">
                <a:latin typeface="Times New Roman" panose="02020603050405020304" pitchFamily="18" charset="0"/>
                <a:cs typeface="Times New Roman" panose="02020603050405020304" pitchFamily="18" charset="0"/>
              </a:rPr>
              <a:t>keyword extraction</a:t>
            </a:r>
            <a:r>
              <a:rPr lang="en-IN" sz="3200" dirty="0">
                <a:latin typeface="Times New Roman" panose="02020603050405020304" pitchFamily="18" charset="0"/>
                <a:cs typeface="Times New Roman" panose="02020603050405020304" pitchFamily="18" charset="0"/>
              </a:rPr>
              <a:t> using techniques like TF‑IDF, RAKE, and </a:t>
            </a:r>
            <a:r>
              <a:rPr lang="en-IN" sz="3200" dirty="0" err="1">
                <a:latin typeface="Times New Roman" panose="02020603050405020304" pitchFamily="18" charset="0"/>
                <a:cs typeface="Times New Roman" panose="02020603050405020304" pitchFamily="18" charset="0"/>
              </a:rPr>
              <a:t>KeyBERT</a:t>
            </a:r>
            <a:r>
              <a:rPr lang="en-IN" sz="3200" dirty="0">
                <a:latin typeface="Times New Roman" panose="02020603050405020304" pitchFamily="18" charset="0"/>
                <a:cs typeface="Times New Roman" panose="02020603050405020304" pitchFamily="18" charset="0"/>
              </a:rPr>
              <a:t> to identify important terms from the </a:t>
            </a:r>
            <a:r>
              <a:rPr lang="en-IN" sz="3200" dirty="0" err="1">
                <a:latin typeface="Times New Roman" panose="02020603050405020304" pitchFamily="18" charset="0"/>
                <a:cs typeface="Times New Roman" panose="02020603050405020304" pitchFamily="18" charset="0"/>
              </a:rPr>
              <a:t>feedback.In</a:t>
            </a:r>
            <a:r>
              <a:rPr lang="en-IN" sz="3200" dirty="0">
                <a:latin typeface="Times New Roman" panose="02020603050405020304" pitchFamily="18" charset="0"/>
                <a:cs typeface="Times New Roman" panose="02020603050405020304" pitchFamily="18" charset="0"/>
              </a:rPr>
              <a:t> parallel, </a:t>
            </a:r>
            <a:r>
              <a:rPr lang="en-IN" sz="3200" b="1" dirty="0">
                <a:latin typeface="Times New Roman" panose="02020603050405020304" pitchFamily="18" charset="0"/>
                <a:cs typeface="Times New Roman" panose="02020603050405020304" pitchFamily="18" charset="0"/>
              </a:rPr>
              <a:t>clustering algorithms</a:t>
            </a:r>
            <a:r>
              <a:rPr lang="en-IN" sz="3200" dirty="0">
                <a:latin typeface="Times New Roman" panose="02020603050405020304" pitchFamily="18" charset="0"/>
                <a:cs typeface="Times New Roman" panose="02020603050405020304" pitchFamily="18" charset="0"/>
              </a:rPr>
              <a:t> such as K‑Means or HDBSCAN are applied to group semantically similar feedback, enabling the discovery of hidden patterns and related issues. Once clusters are formed, </a:t>
            </a:r>
            <a:r>
              <a:rPr lang="en-IN" sz="3200" b="1" dirty="0">
                <a:latin typeface="Times New Roman" panose="02020603050405020304" pitchFamily="18" charset="0"/>
                <a:cs typeface="Times New Roman" panose="02020603050405020304" pitchFamily="18" charset="0"/>
              </a:rPr>
              <a:t>cluster‑wise summarization</a:t>
            </a:r>
            <a:r>
              <a:rPr lang="en-IN" sz="3200" dirty="0">
                <a:latin typeface="Times New Roman" panose="02020603050405020304" pitchFamily="18" charset="0"/>
                <a:cs typeface="Times New Roman" panose="02020603050405020304" pitchFamily="18" charset="0"/>
              </a:rPr>
              <a:t> is carried out using models like the Gemini Flash API to generate meaningful summaries for each group. </a:t>
            </a:r>
          </a:p>
          <a:p>
            <a:pPr lvl="0" algn="just">
              <a:lnSpc>
                <a:spcPct val="150000"/>
              </a:lnSpc>
            </a:pPr>
            <a:r>
              <a:rPr lang="en-IN" sz="3200" dirty="0">
                <a:latin typeface="Times New Roman" panose="02020603050405020304" pitchFamily="18" charset="0"/>
                <a:cs typeface="Times New Roman" panose="02020603050405020304" pitchFamily="18" charset="0"/>
              </a:rPr>
              <a:t>Finally, these summaries are combined in a </a:t>
            </a:r>
            <a:r>
              <a:rPr lang="en-IN" sz="3200" b="1" dirty="0">
                <a:latin typeface="Times New Roman" panose="02020603050405020304" pitchFamily="18" charset="0"/>
                <a:cs typeface="Times New Roman" panose="02020603050405020304" pitchFamily="18" charset="0"/>
              </a:rPr>
              <a:t>final aggregation step</a:t>
            </a:r>
            <a:r>
              <a:rPr lang="en-IN" sz="3200" dirty="0">
                <a:latin typeface="Times New Roman" panose="02020603050405020304" pitchFamily="18" charset="0"/>
                <a:cs typeface="Times New Roman" panose="02020603050405020304" pitchFamily="18" charset="0"/>
              </a:rPr>
              <a:t> to produce clear themes and an overall summary, providing actionable insights with improved consistency, explainability, and minimal manual effort.</a:t>
            </a:r>
          </a:p>
          <a:p>
            <a:endParaRPr lang="en-US" alt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2500"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3598194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4DFDB-2577-EC90-40DA-017AAA403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7A9F3-530C-68D5-56E0-0A6B91E2BC00}"/>
              </a:ext>
            </a:extLst>
          </p:cNvPr>
          <p:cNvSpPr>
            <a:spLocks noGrp="1"/>
          </p:cNvSpPr>
          <p:nvPr>
            <p:ph type="title"/>
          </p:nvPr>
        </p:nvSpPr>
        <p:spPr>
          <a:xfrm>
            <a:off x="972830" y="231200"/>
            <a:ext cx="10364451" cy="741932"/>
          </a:xfrm>
        </p:spPr>
        <p:txBody>
          <a:bodyPr>
            <a:normAutofit/>
          </a:bodyPr>
          <a:lstStyle/>
          <a:p>
            <a:pPr algn="ctr"/>
            <a:r>
              <a:rPr lang="en-IN" sz="2800" b="1" dirty="0">
                <a:latin typeface="Times New Roman" panose="02020603050405020304" pitchFamily="18" charset="0"/>
                <a:cs typeface="Times New Roman" panose="02020603050405020304" pitchFamily="18" charset="0"/>
              </a:rPr>
              <a:t>ADVANTAGES</a:t>
            </a:r>
            <a:endParaRPr lang="en-IN" sz="2800" dirty="0"/>
          </a:p>
        </p:txBody>
      </p:sp>
      <p:sp>
        <p:nvSpPr>
          <p:cNvPr id="3" name="Content Placeholder 2">
            <a:extLst>
              <a:ext uri="{FF2B5EF4-FFF2-40B4-BE49-F238E27FC236}">
                <a16:creationId xmlns:a16="http://schemas.microsoft.com/office/drawing/2014/main" id="{B1611DF2-DF39-2E05-AD54-2AB4F43FEE4D}"/>
              </a:ext>
            </a:extLst>
          </p:cNvPr>
          <p:cNvSpPr>
            <a:spLocks noGrp="1"/>
          </p:cNvSpPr>
          <p:nvPr>
            <p:ph sz="quarter" idx="13"/>
          </p:nvPr>
        </p:nvSpPr>
        <p:spPr>
          <a:xfrm>
            <a:off x="972829" y="932643"/>
            <a:ext cx="10914371" cy="5694157"/>
          </a:xfrm>
        </p:spPr>
        <p:txBody>
          <a:bodyPr>
            <a:noAutofit/>
          </a:bodyPr>
          <a:lstStyle/>
          <a:p>
            <a:pPr lvl="0">
              <a:lnSpc>
                <a:spcPct val="100000"/>
              </a:lnSpc>
            </a:pPr>
            <a:r>
              <a:rPr lang="en-IN" sz="2000" b="1" dirty="0">
                <a:latin typeface="Times New Roman" panose="02020603050405020304" pitchFamily="18" charset="0"/>
                <a:cs typeface="Times New Roman" panose="02020603050405020304" pitchFamily="18" charset="0"/>
              </a:rPr>
              <a:t>Automated Feedback Collection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Using Google Sheets API enables easy, real‑time data collection without manual intervention.</a:t>
            </a:r>
          </a:p>
          <a:p>
            <a:pPr lvl="0">
              <a:lnSpc>
                <a:spcPct val="100000"/>
              </a:lnSpc>
            </a:pPr>
            <a:r>
              <a:rPr lang="en-IN" sz="2000" b="1" dirty="0">
                <a:latin typeface="Times New Roman" panose="02020603050405020304" pitchFamily="18" charset="0"/>
                <a:cs typeface="Times New Roman" panose="02020603050405020304" pitchFamily="18" charset="0"/>
              </a:rPr>
              <a:t>Improved Data Quality through Preprocessing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Text cleaning and embedding generation reduce noise and improve accuracy in downstream analysis.</a:t>
            </a:r>
          </a:p>
          <a:p>
            <a:pPr lvl="0">
              <a:lnSpc>
                <a:spcPct val="100000"/>
              </a:lnSpc>
            </a:pPr>
            <a:r>
              <a:rPr lang="en-IN" sz="2000" b="1" dirty="0">
                <a:latin typeface="Times New Roman" panose="02020603050405020304" pitchFamily="18" charset="0"/>
                <a:cs typeface="Times New Roman" panose="02020603050405020304" pitchFamily="18" charset="0"/>
              </a:rPr>
              <a:t>Context‑Aware Keyword Extraction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Combining TF‑IDF, RAKE, and </a:t>
            </a:r>
            <a:r>
              <a:rPr lang="en-IN" sz="2000" dirty="0" err="1">
                <a:latin typeface="Times New Roman" panose="02020603050405020304" pitchFamily="18" charset="0"/>
                <a:cs typeface="Times New Roman" panose="02020603050405020304" pitchFamily="18" charset="0"/>
              </a:rPr>
              <a:t>KeyBERT</a:t>
            </a:r>
            <a:r>
              <a:rPr lang="en-IN" sz="2000" dirty="0">
                <a:latin typeface="Times New Roman" panose="02020603050405020304" pitchFamily="18" charset="0"/>
                <a:cs typeface="Times New Roman" panose="02020603050405020304" pitchFamily="18" charset="0"/>
              </a:rPr>
              <a:t> extracts meaningful and relevant keywords, improving explainability.</a:t>
            </a:r>
          </a:p>
          <a:p>
            <a:pPr lvl="0">
              <a:lnSpc>
                <a:spcPct val="100000"/>
              </a:lnSpc>
            </a:pPr>
            <a:r>
              <a:rPr lang="en-IN" sz="2000" b="1" dirty="0">
                <a:latin typeface="Times New Roman" panose="02020603050405020304" pitchFamily="18" charset="0"/>
                <a:cs typeface="Times New Roman" panose="02020603050405020304" pitchFamily="18" charset="0"/>
              </a:rPr>
              <a:t>Effective Semantic Clustering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K‑Means and HDBSCAN group similar feedback automatically, uncovering hidden patterns and trends.</a:t>
            </a:r>
          </a:p>
          <a:p>
            <a:pPr lvl="0">
              <a:lnSpc>
                <a:spcPct val="100000"/>
              </a:lnSpc>
            </a:pPr>
            <a:r>
              <a:rPr lang="en-IN" sz="2000" b="1" dirty="0">
                <a:latin typeface="Times New Roman" panose="02020603050405020304" pitchFamily="18" charset="0"/>
                <a:cs typeface="Times New Roman" panose="02020603050405020304" pitchFamily="18" charset="0"/>
              </a:rPr>
              <a:t>Dual‑Path Analysis for Deeper Insights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Parallel keyword extraction and clustering ensure both surface‑level and semantic‑level understanding.</a:t>
            </a:r>
          </a:p>
          <a:p>
            <a:pPr lvl="0">
              <a:lnSpc>
                <a:spcPct val="100000"/>
              </a:lnSpc>
            </a:pPr>
            <a:r>
              <a:rPr lang="en-IN" sz="2000" b="1" dirty="0">
                <a:latin typeface="Times New Roman" panose="02020603050405020304" pitchFamily="18" charset="0"/>
                <a:cs typeface="Times New Roman" panose="02020603050405020304" pitchFamily="18" charset="0"/>
              </a:rPr>
              <a:t>Cluster‑Wise Summarization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Summarizing each cluster separately produces concise, focused insights rather than generic summaries. End‑to‑end automation significantly reduces human effort and processing time.</a:t>
            </a:r>
          </a:p>
          <a:p>
            <a:pPr marL="0" indent="0">
              <a:buNone/>
            </a:pPr>
            <a:endParaRPr lang="en-IN" sz="2000" dirty="0"/>
          </a:p>
        </p:txBody>
      </p:sp>
    </p:spTree>
    <p:extLst>
      <p:ext uri="{BB962C8B-B14F-4D97-AF65-F5344CB8AC3E}">
        <p14:creationId xmlns:p14="http://schemas.microsoft.com/office/powerpoint/2010/main" val="3070833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0339D-B982-A969-841D-973FC222B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90B3B-3027-042C-5549-6FFCCBE530C2}"/>
              </a:ext>
            </a:extLst>
          </p:cNvPr>
          <p:cNvSpPr>
            <a:spLocks noGrp="1"/>
          </p:cNvSpPr>
          <p:nvPr>
            <p:ph type="title"/>
          </p:nvPr>
        </p:nvSpPr>
        <p:spPr>
          <a:xfrm>
            <a:off x="972830" y="231200"/>
            <a:ext cx="10364451" cy="741932"/>
          </a:xfrm>
        </p:spPr>
        <p:txBody>
          <a:bodyPr>
            <a:normAutofit/>
          </a:bodyPr>
          <a:lstStyle/>
          <a:p>
            <a:pPr algn="ctr"/>
            <a:r>
              <a:rPr lang="en-IN" sz="2800" b="1" dirty="0">
                <a:solidFill>
                  <a:schemeClr val="tx1"/>
                </a:solidFill>
                <a:latin typeface="Times New Roman" panose="02020603050405020304" pitchFamily="18" charset="0"/>
                <a:cs typeface="Times New Roman" panose="02020603050405020304" pitchFamily="18" charset="0"/>
              </a:rPr>
              <a:t>RESEARCH GAP</a:t>
            </a:r>
            <a:endParaRPr lang="en-IN" sz="2800" dirty="0"/>
          </a:p>
        </p:txBody>
      </p:sp>
      <p:sp>
        <p:nvSpPr>
          <p:cNvPr id="3" name="Content Placeholder 2">
            <a:extLst>
              <a:ext uri="{FF2B5EF4-FFF2-40B4-BE49-F238E27FC236}">
                <a16:creationId xmlns:a16="http://schemas.microsoft.com/office/drawing/2014/main" id="{9AAF0BB6-D1FA-6BD5-B1C3-E083488B913D}"/>
              </a:ext>
            </a:extLst>
          </p:cNvPr>
          <p:cNvSpPr>
            <a:spLocks noGrp="1"/>
          </p:cNvSpPr>
          <p:nvPr>
            <p:ph sz="quarter" idx="13"/>
          </p:nvPr>
        </p:nvSpPr>
        <p:spPr>
          <a:xfrm>
            <a:off x="972829" y="932643"/>
            <a:ext cx="10364451" cy="5694157"/>
          </a:xfrm>
        </p:spPr>
        <p:txBody>
          <a:bodyPr>
            <a:normAutofit fontScale="25000" lnSpcReduction="20000"/>
          </a:bodyPr>
          <a:lstStyle/>
          <a:p>
            <a:pPr lvl="0">
              <a:lnSpc>
                <a:spcPct val="120000"/>
              </a:lnSpc>
            </a:pPr>
            <a:r>
              <a:rPr lang="en-IN" sz="8000" b="1" dirty="0">
                <a:latin typeface="Times New Roman" panose="02020603050405020304" pitchFamily="18" charset="0"/>
                <a:cs typeface="Times New Roman" panose="02020603050405020304" pitchFamily="18" charset="0"/>
              </a:rPr>
              <a:t>Lack of Explainable Feedback Analysis</a:t>
            </a:r>
            <a:br>
              <a:rPr lang="en-IN" sz="8000" dirty="0">
                <a:latin typeface="Times New Roman" panose="02020603050405020304" pitchFamily="18" charset="0"/>
                <a:cs typeface="Times New Roman" panose="02020603050405020304" pitchFamily="18" charset="0"/>
              </a:rPr>
            </a:br>
            <a:r>
              <a:rPr lang="en-IN" sz="8000" dirty="0">
                <a:latin typeface="Times New Roman" panose="02020603050405020304" pitchFamily="18" charset="0"/>
                <a:cs typeface="Times New Roman" panose="02020603050405020304" pitchFamily="18" charset="0"/>
              </a:rPr>
              <a:t>Existing systems generate summaries without clearly linking insights to extracted keywords, clusters, or original feedback.</a:t>
            </a:r>
          </a:p>
          <a:p>
            <a:pPr lvl="0">
              <a:lnSpc>
                <a:spcPct val="120000"/>
              </a:lnSpc>
            </a:pPr>
            <a:r>
              <a:rPr lang="en-IN" sz="8000" b="1" dirty="0">
                <a:latin typeface="Times New Roman" panose="02020603050405020304" pitchFamily="18" charset="0"/>
                <a:cs typeface="Times New Roman" panose="02020603050405020304" pitchFamily="18" charset="0"/>
              </a:rPr>
              <a:t>Over‑reliance on Manual and Basic Methods</a:t>
            </a:r>
            <a:br>
              <a:rPr lang="en-IN" sz="8000" dirty="0">
                <a:latin typeface="Times New Roman" panose="02020603050405020304" pitchFamily="18" charset="0"/>
                <a:cs typeface="Times New Roman" panose="02020603050405020304" pitchFamily="18" charset="0"/>
              </a:rPr>
            </a:br>
            <a:r>
              <a:rPr lang="en-IN" sz="8000" dirty="0">
                <a:latin typeface="Times New Roman" panose="02020603050405020304" pitchFamily="18" charset="0"/>
                <a:cs typeface="Times New Roman" panose="02020603050405020304" pitchFamily="18" charset="0"/>
              </a:rPr>
              <a:t>Most traditional approaches depend on manual categorization and basic sentiment analysis, limiting scalability and accuracy.</a:t>
            </a:r>
          </a:p>
          <a:p>
            <a:pPr lvl="0">
              <a:lnSpc>
                <a:spcPct val="120000"/>
              </a:lnSpc>
            </a:pPr>
            <a:r>
              <a:rPr lang="en-IN" sz="8000" b="1" dirty="0">
                <a:latin typeface="Times New Roman" panose="02020603050405020304" pitchFamily="18" charset="0"/>
                <a:cs typeface="Times New Roman" panose="02020603050405020304" pitchFamily="18" charset="0"/>
              </a:rPr>
              <a:t>Single‑Stage Analysis Focus</a:t>
            </a:r>
            <a:br>
              <a:rPr lang="en-IN" sz="8000" dirty="0">
                <a:latin typeface="Times New Roman" panose="02020603050405020304" pitchFamily="18" charset="0"/>
                <a:cs typeface="Times New Roman" panose="02020603050405020304" pitchFamily="18" charset="0"/>
              </a:rPr>
            </a:br>
            <a:r>
              <a:rPr lang="en-IN" sz="8000" dirty="0">
                <a:latin typeface="Times New Roman" panose="02020603050405020304" pitchFamily="18" charset="0"/>
                <a:cs typeface="Times New Roman" panose="02020603050405020304" pitchFamily="18" charset="0"/>
              </a:rPr>
              <a:t>Many existing solutions focus only on either keyword extraction or sentiment analysis, lacking a unified multi‑stage pipeline.</a:t>
            </a:r>
          </a:p>
          <a:p>
            <a:pPr lvl="0">
              <a:lnSpc>
                <a:spcPct val="120000"/>
              </a:lnSpc>
            </a:pPr>
            <a:r>
              <a:rPr lang="en-IN" sz="8000" b="1" dirty="0">
                <a:latin typeface="Times New Roman" panose="02020603050405020304" pitchFamily="18" charset="0"/>
                <a:cs typeface="Times New Roman" panose="02020603050405020304" pitchFamily="18" charset="0"/>
              </a:rPr>
              <a:t>Inconsistent Insight Quality</a:t>
            </a:r>
            <a:br>
              <a:rPr lang="en-IN" sz="8000" dirty="0">
                <a:latin typeface="Times New Roman" panose="02020603050405020304" pitchFamily="18" charset="0"/>
                <a:cs typeface="Times New Roman" panose="02020603050405020304" pitchFamily="18" charset="0"/>
              </a:rPr>
            </a:br>
            <a:r>
              <a:rPr lang="en-IN" sz="8000" dirty="0">
                <a:latin typeface="Times New Roman" panose="02020603050405020304" pitchFamily="18" charset="0"/>
                <a:cs typeface="Times New Roman" panose="02020603050405020304" pitchFamily="18" charset="0"/>
              </a:rPr>
              <a:t>AI‑generated summaries vary with prompts and models, and this inconsistency is rarely measured or controlled.</a:t>
            </a:r>
          </a:p>
          <a:p>
            <a:pPr lvl="0">
              <a:lnSpc>
                <a:spcPct val="120000"/>
              </a:lnSpc>
            </a:pPr>
            <a:r>
              <a:rPr lang="en-IN" sz="8000" b="1" dirty="0">
                <a:latin typeface="Times New Roman" panose="02020603050405020304" pitchFamily="18" charset="0"/>
                <a:cs typeface="Times New Roman" panose="02020603050405020304" pitchFamily="18" charset="0"/>
              </a:rPr>
              <a:t>Absence of Semantic Clustering Integration</a:t>
            </a:r>
            <a:br>
              <a:rPr lang="en-IN" sz="8000" dirty="0">
                <a:latin typeface="Times New Roman" panose="02020603050405020304" pitchFamily="18" charset="0"/>
                <a:cs typeface="Times New Roman" panose="02020603050405020304" pitchFamily="18" charset="0"/>
              </a:rPr>
            </a:br>
            <a:r>
              <a:rPr lang="en-IN" sz="8000" dirty="0">
                <a:latin typeface="Times New Roman" panose="02020603050405020304" pitchFamily="18" charset="0"/>
                <a:cs typeface="Times New Roman" panose="02020603050405020304" pitchFamily="18" charset="0"/>
              </a:rPr>
              <a:t>Semantic clustering methods like K‑Means or HDBSCAN are not systematically combined with embedding‑based representations.</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7660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C6ACB-6D59-124B-DF9E-0D2B48435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4A640-D9B2-C951-E0A6-22CFECF641A6}"/>
              </a:ext>
            </a:extLst>
          </p:cNvPr>
          <p:cNvSpPr>
            <a:spLocks noGrp="1"/>
          </p:cNvSpPr>
          <p:nvPr>
            <p:ph type="title"/>
          </p:nvPr>
        </p:nvSpPr>
        <p:spPr>
          <a:xfrm>
            <a:off x="972830" y="231200"/>
            <a:ext cx="10364451" cy="741932"/>
          </a:xfrm>
        </p:spPr>
        <p:txBody>
          <a:bodyPr>
            <a:normAutofit/>
          </a:bodyPr>
          <a:lstStyle/>
          <a:p>
            <a:pPr algn="ctr"/>
            <a:r>
              <a:rPr lang="en-IN" sz="2800" b="1" dirty="0">
                <a:solidFill>
                  <a:schemeClr val="tx1"/>
                </a:solidFill>
                <a:latin typeface="Times New Roman" panose="02020603050405020304" pitchFamily="18" charset="0"/>
                <a:cs typeface="Times New Roman" panose="02020603050405020304" pitchFamily="18" charset="0"/>
              </a:rPr>
              <a:t>TENTATIVE </a:t>
            </a:r>
            <a:r>
              <a:rPr lang="en-IN" sz="2800" b="1" dirty="0">
                <a:latin typeface="Times New Roman" panose="02020603050405020304" pitchFamily="18" charset="0"/>
                <a:cs typeface="Times New Roman" panose="02020603050405020304" pitchFamily="18" charset="0"/>
              </a:rPr>
              <a:t>METHODOLOGY</a:t>
            </a:r>
            <a:endParaRPr lang="en-IN" sz="2800" dirty="0"/>
          </a:p>
        </p:txBody>
      </p:sp>
      <p:sp>
        <p:nvSpPr>
          <p:cNvPr id="3" name="Content Placeholder 2">
            <a:extLst>
              <a:ext uri="{FF2B5EF4-FFF2-40B4-BE49-F238E27FC236}">
                <a16:creationId xmlns:a16="http://schemas.microsoft.com/office/drawing/2014/main" id="{1A2D213C-E539-65F5-ED0F-1D2FF32D46C8}"/>
              </a:ext>
            </a:extLst>
          </p:cNvPr>
          <p:cNvSpPr>
            <a:spLocks noGrp="1"/>
          </p:cNvSpPr>
          <p:nvPr>
            <p:ph sz="quarter" idx="13"/>
          </p:nvPr>
        </p:nvSpPr>
        <p:spPr>
          <a:xfrm>
            <a:off x="972829" y="932643"/>
            <a:ext cx="10364451" cy="5694157"/>
          </a:xfrm>
        </p:spPr>
        <p:txBody>
          <a:bodyPr>
            <a:normAutofit fontScale="62500" lnSpcReduction="20000"/>
          </a:bodyPr>
          <a:lstStyle/>
          <a:p>
            <a:pPr>
              <a:lnSpc>
                <a:spcPct val="120000"/>
              </a:lnSpc>
            </a:pPr>
            <a:r>
              <a:rPr lang="en-IN" sz="2900" b="1" dirty="0">
                <a:latin typeface="Times New Roman" panose="02020603050405020304" pitchFamily="18" charset="0"/>
                <a:cs typeface="Times New Roman" panose="02020603050405020304" pitchFamily="18" charset="0"/>
              </a:rPr>
              <a:t>Data Collection &amp; Preprocessing</a:t>
            </a:r>
            <a:endParaRPr lang="en-IN" sz="2900" dirty="0">
              <a:latin typeface="Times New Roman" panose="02020603050405020304" pitchFamily="18" charset="0"/>
              <a:cs typeface="Times New Roman" panose="02020603050405020304" pitchFamily="18" charset="0"/>
            </a:endParaRPr>
          </a:p>
          <a:p>
            <a:pPr lvl="1">
              <a:lnSpc>
                <a:spcPct val="120000"/>
              </a:lnSpc>
            </a:pPr>
            <a:r>
              <a:rPr lang="en-IN" sz="2900" dirty="0">
                <a:latin typeface="Times New Roman" panose="02020603050405020304" pitchFamily="18" charset="0"/>
                <a:cs typeface="Times New Roman" panose="02020603050405020304" pitchFamily="18" charset="0"/>
              </a:rPr>
              <a:t>Collect user feedback data from </a:t>
            </a:r>
            <a:r>
              <a:rPr lang="en-IN" sz="2900" b="1" dirty="0">
                <a:latin typeface="Times New Roman" panose="02020603050405020304" pitchFamily="18" charset="0"/>
                <a:cs typeface="Times New Roman" panose="02020603050405020304" pitchFamily="18" charset="0"/>
              </a:rPr>
              <a:t>Google Sheets</a:t>
            </a:r>
            <a:r>
              <a:rPr lang="en-IN" sz="2900" dirty="0">
                <a:latin typeface="Times New Roman" panose="02020603050405020304" pitchFamily="18" charset="0"/>
                <a:cs typeface="Times New Roman" panose="02020603050405020304" pitchFamily="18" charset="0"/>
              </a:rPr>
              <a:t> using the </a:t>
            </a:r>
            <a:r>
              <a:rPr lang="en-IN" sz="2900" b="1" dirty="0">
                <a:latin typeface="Times New Roman" panose="02020603050405020304" pitchFamily="18" charset="0"/>
                <a:cs typeface="Times New Roman" panose="02020603050405020304" pitchFamily="18" charset="0"/>
              </a:rPr>
              <a:t>Google Sheets API</a:t>
            </a:r>
            <a:r>
              <a:rPr lang="en-IN" sz="2900" dirty="0">
                <a:latin typeface="Times New Roman" panose="02020603050405020304" pitchFamily="18" charset="0"/>
                <a:cs typeface="Times New Roman" panose="02020603050405020304" pitchFamily="18" charset="0"/>
              </a:rPr>
              <a:t>.</a:t>
            </a:r>
          </a:p>
          <a:p>
            <a:pPr lvl="1">
              <a:lnSpc>
                <a:spcPct val="120000"/>
              </a:lnSpc>
            </a:pPr>
            <a:r>
              <a:rPr lang="en-IN" sz="2900" dirty="0">
                <a:latin typeface="Times New Roman" panose="02020603050405020304" pitchFamily="18" charset="0"/>
                <a:cs typeface="Times New Roman" panose="02020603050405020304" pitchFamily="18" charset="0"/>
              </a:rPr>
              <a:t>Perform text preprocessing including </a:t>
            </a:r>
            <a:r>
              <a:rPr lang="en-IN" sz="2900" b="1" dirty="0">
                <a:latin typeface="Times New Roman" panose="02020603050405020304" pitchFamily="18" charset="0"/>
                <a:cs typeface="Times New Roman" panose="02020603050405020304" pitchFamily="18" charset="0"/>
              </a:rPr>
              <a:t>noise removal</a:t>
            </a:r>
            <a:r>
              <a:rPr lang="en-IN" sz="2900" dirty="0">
                <a:latin typeface="Times New Roman" panose="02020603050405020304" pitchFamily="18" charset="0"/>
                <a:cs typeface="Times New Roman" panose="02020603050405020304" pitchFamily="18" charset="0"/>
              </a:rPr>
              <a:t>, </a:t>
            </a:r>
            <a:r>
              <a:rPr lang="en-IN" sz="2900" b="1" dirty="0">
                <a:latin typeface="Times New Roman" panose="02020603050405020304" pitchFamily="18" charset="0"/>
                <a:cs typeface="Times New Roman" panose="02020603050405020304" pitchFamily="18" charset="0"/>
              </a:rPr>
              <a:t>punctuation cleaning</a:t>
            </a:r>
            <a:r>
              <a:rPr lang="en-IN" sz="2900" dirty="0">
                <a:latin typeface="Times New Roman" panose="02020603050405020304" pitchFamily="18" charset="0"/>
                <a:cs typeface="Times New Roman" panose="02020603050405020304" pitchFamily="18" charset="0"/>
              </a:rPr>
              <a:t>, and basic normalization.</a:t>
            </a:r>
          </a:p>
          <a:p>
            <a:pPr>
              <a:lnSpc>
                <a:spcPct val="120000"/>
              </a:lnSpc>
            </a:pPr>
            <a:r>
              <a:rPr lang="en-IN" sz="2900" b="1" dirty="0">
                <a:latin typeface="Times New Roman" panose="02020603050405020304" pitchFamily="18" charset="0"/>
                <a:cs typeface="Times New Roman" panose="02020603050405020304" pitchFamily="18" charset="0"/>
              </a:rPr>
              <a:t>Keyword Extraction</a:t>
            </a:r>
            <a:endParaRPr lang="en-IN" sz="2900" dirty="0">
              <a:latin typeface="Times New Roman" panose="02020603050405020304" pitchFamily="18" charset="0"/>
              <a:cs typeface="Times New Roman" panose="02020603050405020304" pitchFamily="18" charset="0"/>
            </a:endParaRPr>
          </a:p>
          <a:p>
            <a:pPr lvl="1">
              <a:lnSpc>
                <a:spcPct val="120000"/>
              </a:lnSpc>
            </a:pPr>
            <a:r>
              <a:rPr lang="en-IN" sz="2900" dirty="0">
                <a:latin typeface="Times New Roman" panose="02020603050405020304" pitchFamily="18" charset="0"/>
                <a:cs typeface="Times New Roman" panose="02020603050405020304" pitchFamily="18" charset="0"/>
              </a:rPr>
              <a:t>Apply </a:t>
            </a:r>
            <a:r>
              <a:rPr lang="en-IN" sz="2900" b="1" dirty="0">
                <a:latin typeface="Times New Roman" panose="02020603050405020304" pitchFamily="18" charset="0"/>
                <a:cs typeface="Times New Roman" panose="02020603050405020304" pitchFamily="18" charset="0"/>
              </a:rPr>
              <a:t>TF‑IDF</a:t>
            </a:r>
            <a:r>
              <a:rPr lang="en-IN" sz="2900" dirty="0">
                <a:latin typeface="Times New Roman" panose="02020603050405020304" pitchFamily="18" charset="0"/>
                <a:cs typeface="Times New Roman" panose="02020603050405020304" pitchFamily="18" charset="0"/>
              </a:rPr>
              <a:t> to identify frequently occurring and important terms.</a:t>
            </a:r>
          </a:p>
          <a:p>
            <a:pPr lvl="1">
              <a:lnSpc>
                <a:spcPct val="120000"/>
              </a:lnSpc>
            </a:pPr>
            <a:r>
              <a:rPr lang="en-IN" sz="2900" dirty="0">
                <a:latin typeface="Times New Roman" panose="02020603050405020304" pitchFamily="18" charset="0"/>
                <a:cs typeface="Times New Roman" panose="02020603050405020304" pitchFamily="18" charset="0"/>
              </a:rPr>
              <a:t>Use </a:t>
            </a:r>
            <a:r>
              <a:rPr lang="en-IN" sz="2900" b="1" dirty="0" err="1">
                <a:latin typeface="Times New Roman" panose="02020603050405020304" pitchFamily="18" charset="0"/>
                <a:cs typeface="Times New Roman" panose="02020603050405020304" pitchFamily="18" charset="0"/>
              </a:rPr>
              <a:t>KeyBERT</a:t>
            </a:r>
            <a:r>
              <a:rPr lang="en-IN" sz="2900" dirty="0">
                <a:latin typeface="Times New Roman" panose="02020603050405020304" pitchFamily="18" charset="0"/>
                <a:cs typeface="Times New Roman" panose="02020603050405020304" pitchFamily="18" charset="0"/>
              </a:rPr>
              <a:t> to extract context‑aware semantic keywords from feedback text.</a:t>
            </a:r>
          </a:p>
          <a:p>
            <a:pPr>
              <a:lnSpc>
                <a:spcPct val="120000"/>
              </a:lnSpc>
            </a:pPr>
            <a:r>
              <a:rPr lang="en-IN" sz="2900" b="1" dirty="0">
                <a:latin typeface="Times New Roman" panose="02020603050405020304" pitchFamily="18" charset="0"/>
                <a:cs typeface="Times New Roman" panose="02020603050405020304" pitchFamily="18" charset="0"/>
              </a:rPr>
              <a:t>Feedback Clustering</a:t>
            </a:r>
            <a:endParaRPr lang="en-IN" sz="2900" dirty="0">
              <a:latin typeface="Times New Roman" panose="02020603050405020304" pitchFamily="18" charset="0"/>
              <a:cs typeface="Times New Roman" panose="02020603050405020304" pitchFamily="18" charset="0"/>
            </a:endParaRPr>
          </a:p>
          <a:p>
            <a:pPr lvl="1">
              <a:lnSpc>
                <a:spcPct val="120000"/>
              </a:lnSpc>
            </a:pPr>
            <a:r>
              <a:rPr lang="en-IN" sz="2900" dirty="0">
                <a:latin typeface="Times New Roman" panose="02020603050405020304" pitchFamily="18" charset="0"/>
                <a:cs typeface="Times New Roman" panose="02020603050405020304" pitchFamily="18" charset="0"/>
              </a:rPr>
              <a:t>Convert </a:t>
            </a:r>
            <a:r>
              <a:rPr lang="en-IN" sz="2900" dirty="0" err="1">
                <a:latin typeface="Times New Roman" panose="02020603050405020304" pitchFamily="18" charset="0"/>
                <a:cs typeface="Times New Roman" panose="02020603050405020304" pitchFamily="18" charset="0"/>
              </a:rPr>
              <a:t>preprocessed</a:t>
            </a:r>
            <a:r>
              <a:rPr lang="en-IN" sz="2900" dirty="0">
                <a:latin typeface="Times New Roman" panose="02020603050405020304" pitchFamily="18" charset="0"/>
                <a:cs typeface="Times New Roman" panose="02020603050405020304" pitchFamily="18" charset="0"/>
              </a:rPr>
              <a:t> text into embeddings for semantic representation.</a:t>
            </a:r>
          </a:p>
          <a:p>
            <a:pPr lvl="1">
              <a:lnSpc>
                <a:spcPct val="120000"/>
              </a:lnSpc>
            </a:pPr>
            <a:r>
              <a:rPr lang="en-IN" sz="2900" dirty="0">
                <a:latin typeface="Times New Roman" panose="02020603050405020304" pitchFamily="18" charset="0"/>
                <a:cs typeface="Times New Roman" panose="02020603050405020304" pitchFamily="18" charset="0"/>
              </a:rPr>
              <a:t>Apply </a:t>
            </a:r>
            <a:r>
              <a:rPr lang="en-IN" sz="2900" b="1" dirty="0">
                <a:latin typeface="Times New Roman" panose="02020603050405020304" pitchFamily="18" charset="0"/>
                <a:cs typeface="Times New Roman" panose="02020603050405020304" pitchFamily="18" charset="0"/>
              </a:rPr>
              <a:t>K‑Means</a:t>
            </a:r>
            <a:r>
              <a:rPr lang="en-IN" sz="2900" dirty="0">
                <a:latin typeface="Times New Roman" panose="02020603050405020304" pitchFamily="18" charset="0"/>
                <a:cs typeface="Times New Roman" panose="02020603050405020304" pitchFamily="18" charset="0"/>
              </a:rPr>
              <a:t> and </a:t>
            </a:r>
            <a:r>
              <a:rPr lang="en-IN" sz="2900" b="1" dirty="0">
                <a:latin typeface="Times New Roman" panose="02020603050405020304" pitchFamily="18" charset="0"/>
                <a:cs typeface="Times New Roman" panose="02020603050405020304" pitchFamily="18" charset="0"/>
              </a:rPr>
              <a:t>DBSCAN</a:t>
            </a:r>
            <a:r>
              <a:rPr lang="en-IN" sz="2900" dirty="0">
                <a:latin typeface="Times New Roman" panose="02020603050405020304" pitchFamily="18" charset="0"/>
                <a:cs typeface="Times New Roman" panose="02020603050405020304" pitchFamily="18" charset="0"/>
              </a:rPr>
              <a:t> clustering algorithms to group similar feedback automatically.</a:t>
            </a:r>
          </a:p>
          <a:p>
            <a:pPr>
              <a:lnSpc>
                <a:spcPct val="120000"/>
              </a:lnSpc>
            </a:pPr>
            <a:r>
              <a:rPr lang="en-IN" sz="2900" b="1" dirty="0">
                <a:latin typeface="Times New Roman" panose="02020603050405020304" pitchFamily="18" charset="0"/>
                <a:cs typeface="Times New Roman" panose="02020603050405020304" pitchFamily="18" charset="0"/>
              </a:rPr>
              <a:t>Insight Generation (AI‑Based Synthesis)</a:t>
            </a:r>
            <a:endParaRPr lang="en-IN" sz="2900" dirty="0">
              <a:latin typeface="Times New Roman" panose="02020603050405020304" pitchFamily="18" charset="0"/>
              <a:cs typeface="Times New Roman" panose="02020603050405020304" pitchFamily="18" charset="0"/>
            </a:endParaRPr>
          </a:p>
          <a:p>
            <a:pPr lvl="1">
              <a:lnSpc>
                <a:spcPct val="120000"/>
              </a:lnSpc>
            </a:pPr>
            <a:r>
              <a:rPr lang="en-IN" sz="2900" dirty="0">
                <a:latin typeface="Times New Roman" panose="02020603050405020304" pitchFamily="18" charset="0"/>
                <a:cs typeface="Times New Roman" panose="02020603050405020304" pitchFamily="18" charset="0"/>
              </a:rPr>
              <a:t>Perform </a:t>
            </a:r>
            <a:r>
              <a:rPr lang="en-IN" sz="2900" b="1" dirty="0">
                <a:latin typeface="Times New Roman" panose="02020603050405020304" pitchFamily="18" charset="0"/>
                <a:cs typeface="Times New Roman" panose="02020603050405020304" pitchFamily="18" charset="0"/>
              </a:rPr>
              <a:t>cluster‑wise summarization</a:t>
            </a:r>
            <a:r>
              <a:rPr lang="en-IN" sz="2900" dirty="0">
                <a:latin typeface="Times New Roman" panose="02020603050405020304" pitchFamily="18" charset="0"/>
                <a:cs typeface="Times New Roman" panose="02020603050405020304" pitchFamily="18" charset="0"/>
              </a:rPr>
              <a:t> using </a:t>
            </a:r>
            <a:r>
              <a:rPr lang="en-IN" sz="2900" b="1" dirty="0">
                <a:latin typeface="Times New Roman" panose="02020603050405020304" pitchFamily="18" charset="0"/>
                <a:cs typeface="Times New Roman" panose="02020603050405020304" pitchFamily="18" charset="0"/>
              </a:rPr>
              <a:t>Gemini 2.5 Flash</a:t>
            </a:r>
            <a:r>
              <a:rPr lang="en-IN" sz="2900" dirty="0">
                <a:latin typeface="Times New Roman" panose="02020603050405020304" pitchFamily="18" charset="0"/>
                <a:cs typeface="Times New Roman" panose="02020603050405020304" pitchFamily="18" charset="0"/>
              </a:rPr>
              <a:t> to generate meaningful insights from grouped feedback.</a:t>
            </a:r>
          </a:p>
          <a:p>
            <a:pPr lvl="1">
              <a:lnSpc>
                <a:spcPct val="120000"/>
              </a:lnSpc>
            </a:pPr>
            <a:r>
              <a:rPr lang="en-IN" sz="2900" dirty="0">
                <a:latin typeface="Times New Roman" panose="02020603050405020304" pitchFamily="18" charset="0"/>
                <a:cs typeface="Times New Roman" panose="02020603050405020304" pitchFamily="18" charset="0"/>
              </a:rPr>
              <a:t>Reduce hallucinations by grounding summaries on clustered feedback data.</a:t>
            </a:r>
          </a:p>
          <a:p>
            <a:pPr>
              <a:lnSpc>
                <a:spcPct val="120000"/>
              </a:lnSpc>
            </a:pPr>
            <a:r>
              <a:rPr lang="en-IN" sz="2900" b="1" dirty="0">
                <a:latin typeface="Times New Roman" panose="02020603050405020304" pitchFamily="18" charset="0"/>
                <a:cs typeface="Times New Roman" panose="02020603050405020304" pitchFamily="18" charset="0"/>
              </a:rPr>
              <a:t>Final Aggregation &amp; Visualization</a:t>
            </a:r>
            <a:endParaRPr lang="en-IN" sz="2900" dirty="0">
              <a:latin typeface="Times New Roman" panose="02020603050405020304" pitchFamily="18" charset="0"/>
              <a:cs typeface="Times New Roman" panose="02020603050405020304" pitchFamily="18" charset="0"/>
            </a:endParaRPr>
          </a:p>
          <a:p>
            <a:pPr lvl="1">
              <a:lnSpc>
                <a:spcPct val="120000"/>
              </a:lnSpc>
            </a:pPr>
            <a:r>
              <a:rPr lang="en-IN" sz="2900" dirty="0">
                <a:latin typeface="Times New Roman" panose="02020603050405020304" pitchFamily="18" charset="0"/>
                <a:cs typeface="Times New Roman" panose="02020603050405020304" pitchFamily="18" charset="0"/>
              </a:rPr>
              <a:t>Aggregate cluster‑level insights into overall </a:t>
            </a:r>
            <a:r>
              <a:rPr lang="en-IN" sz="2900" b="1" dirty="0">
                <a:latin typeface="Times New Roman" panose="02020603050405020304" pitchFamily="18" charset="0"/>
                <a:cs typeface="Times New Roman" panose="02020603050405020304" pitchFamily="18" charset="0"/>
              </a:rPr>
              <a:t>themes and summaries</a:t>
            </a:r>
            <a:r>
              <a:rPr lang="en-IN" sz="2900" dirty="0">
                <a:latin typeface="Times New Roman" panose="02020603050405020304" pitchFamily="18" charset="0"/>
                <a:cs typeface="Times New Roman" panose="02020603050405020304" pitchFamily="18" charset="0"/>
              </a:rPr>
              <a:t>.</a:t>
            </a:r>
          </a:p>
          <a:p>
            <a:pPr lvl="1">
              <a:lnSpc>
                <a:spcPct val="120000"/>
              </a:lnSpc>
            </a:pPr>
            <a:r>
              <a:rPr lang="en-IN" sz="2900" dirty="0">
                <a:latin typeface="Times New Roman" panose="02020603050405020304" pitchFamily="18" charset="0"/>
                <a:cs typeface="Times New Roman" panose="02020603050405020304" pitchFamily="18" charset="0"/>
              </a:rPr>
              <a:t>Present results through an interactive </a:t>
            </a:r>
            <a:r>
              <a:rPr lang="en-IN" sz="2900" b="1" dirty="0">
                <a:latin typeface="Times New Roman" panose="02020603050405020304" pitchFamily="18" charset="0"/>
                <a:cs typeface="Times New Roman" panose="02020603050405020304" pitchFamily="18" charset="0"/>
              </a:rPr>
              <a:t>React‑based dashboard</a:t>
            </a:r>
            <a:r>
              <a:rPr lang="en-IN" sz="2900" dirty="0">
                <a:latin typeface="Times New Roman" panose="02020603050405020304" pitchFamily="18" charset="0"/>
                <a:cs typeface="Times New Roman" panose="02020603050405020304" pitchFamily="18" charset="0"/>
              </a:rPr>
              <a:t> for clear visualization and analysis. </a:t>
            </a:r>
          </a:p>
          <a:p>
            <a:pPr marL="0" indent="0">
              <a:buNone/>
            </a:pPr>
            <a:endParaRPr lang="en-US" sz="2400" dirty="0"/>
          </a:p>
        </p:txBody>
      </p:sp>
    </p:spTree>
    <p:extLst>
      <p:ext uri="{BB962C8B-B14F-4D97-AF65-F5344CB8AC3E}">
        <p14:creationId xmlns:p14="http://schemas.microsoft.com/office/powerpoint/2010/main" val="1007665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Flowchart: Document 21">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AB6C08B-AB05-B905-87A6-588ACBED2023}"/>
              </a:ext>
            </a:extLst>
          </p:cNvPr>
          <p:cNvSpPr txBox="1"/>
          <p:nvPr/>
        </p:nvSpPr>
        <p:spPr>
          <a:xfrm>
            <a:off x="838200" y="171162"/>
            <a:ext cx="2840182" cy="2371148"/>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2200" b="1" kern="1200" dirty="0">
                <a:solidFill>
                  <a:srgbClr val="FFFFFF"/>
                </a:solidFill>
                <a:latin typeface="+mj-lt"/>
                <a:ea typeface="+mj-ea"/>
                <a:cs typeface="+mj-cs"/>
              </a:rPr>
              <a:t>ARCHITECTURE DIAGRAM for </a:t>
            </a:r>
            <a:r>
              <a:rPr lang="en-US" sz="2200" b="1" dirty="0">
                <a:solidFill>
                  <a:srgbClr val="FFFFFF"/>
                </a:solidFill>
                <a:latin typeface="+mj-lt"/>
                <a:ea typeface="+mj-ea"/>
                <a:cs typeface="+mj-cs"/>
              </a:rPr>
              <a:t>AI - Powered Feedback Interpretation System</a:t>
            </a:r>
          </a:p>
        </p:txBody>
      </p:sp>
      <p:pic>
        <p:nvPicPr>
          <p:cNvPr id="7" name="Picture 6">
            <a:extLst>
              <a:ext uri="{FF2B5EF4-FFF2-40B4-BE49-F238E27FC236}">
                <a16:creationId xmlns:a16="http://schemas.microsoft.com/office/drawing/2014/main" id="{F4CE1185-CC65-36C3-3622-3E8B346A9F3B}"/>
              </a:ext>
            </a:extLst>
          </p:cNvPr>
          <p:cNvPicPr>
            <a:picLocks noChangeAspect="1"/>
          </p:cNvPicPr>
          <p:nvPr/>
        </p:nvPicPr>
        <p:blipFill>
          <a:blip r:embed="rId2"/>
          <a:stretch>
            <a:fillRect/>
          </a:stretch>
        </p:blipFill>
        <p:spPr>
          <a:xfrm>
            <a:off x="5934974" y="379416"/>
            <a:ext cx="4486511" cy="5789489"/>
          </a:xfrm>
          <a:prstGeom prst="rect">
            <a:avLst/>
          </a:prstGeom>
        </p:spPr>
      </p:pic>
    </p:spTree>
    <p:extLst>
      <p:ext uri="{BB962C8B-B14F-4D97-AF65-F5344CB8AC3E}">
        <p14:creationId xmlns:p14="http://schemas.microsoft.com/office/powerpoint/2010/main" val="3064153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95CB04F-DF08-1892-91B2-D604A632F0E2}"/>
              </a:ext>
            </a:extLst>
          </p:cNvPr>
          <p:cNvPicPr>
            <a:picLocks noGrp="1" noChangeAspect="1"/>
          </p:cNvPicPr>
          <p:nvPr>
            <p:ph sz="quarter" idx="13"/>
          </p:nvPr>
        </p:nvPicPr>
        <p:blipFill>
          <a:blip r:embed="rId2"/>
          <a:stretch>
            <a:fillRect/>
          </a:stretch>
        </p:blipFill>
        <p:spPr>
          <a:xfrm>
            <a:off x="762000" y="939800"/>
            <a:ext cx="10693400" cy="5270500"/>
          </a:xfrm>
          <a:prstGeom prst="rect">
            <a:avLst/>
          </a:prstGeom>
        </p:spPr>
      </p:pic>
      <p:sp>
        <p:nvSpPr>
          <p:cNvPr id="7" name="Title 1">
            <a:extLst>
              <a:ext uri="{FF2B5EF4-FFF2-40B4-BE49-F238E27FC236}">
                <a16:creationId xmlns:a16="http://schemas.microsoft.com/office/drawing/2014/main" id="{C7214CDF-CF58-B670-B9C5-E6AE8AD77338}"/>
              </a:ext>
            </a:extLst>
          </p:cNvPr>
          <p:cNvSpPr>
            <a:spLocks noGrp="1"/>
          </p:cNvSpPr>
          <p:nvPr>
            <p:ph type="title"/>
          </p:nvPr>
        </p:nvSpPr>
        <p:spPr>
          <a:xfrm>
            <a:off x="972830" y="231200"/>
            <a:ext cx="10364451" cy="741932"/>
          </a:xfrm>
        </p:spPr>
        <p:txBody>
          <a:bodyPr>
            <a:normAutofit/>
          </a:bodyPr>
          <a:lstStyle/>
          <a:p>
            <a:pPr algn="ctr"/>
            <a:r>
              <a:rPr lang="en-US" sz="2800" b="1" dirty="0">
                <a:latin typeface="Times New Roman" panose="02020603050405020304" pitchFamily="18" charset="0"/>
                <a:cs typeface="Times New Roman" panose="02020603050405020304" pitchFamily="18" charset="0"/>
              </a:rPr>
              <a:t>E</a:t>
            </a:r>
            <a:r>
              <a:rPr lang="en-IN" sz="2800" b="1" dirty="0">
                <a:latin typeface="Times New Roman" panose="02020603050405020304" pitchFamily="18" charset="0"/>
                <a:cs typeface="Times New Roman" panose="02020603050405020304" pitchFamily="18" charset="0"/>
              </a:rPr>
              <a:t>XPECTED OUTPUT</a:t>
            </a:r>
            <a:endParaRPr lang="en-IN" sz="2800" dirty="0"/>
          </a:p>
        </p:txBody>
      </p:sp>
    </p:spTree>
    <p:extLst>
      <p:ext uri="{BB962C8B-B14F-4D97-AF65-F5344CB8AC3E}">
        <p14:creationId xmlns:p14="http://schemas.microsoft.com/office/powerpoint/2010/main" val="1588659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D640EF4-154E-BFF1-2363-C85CE46AF78E}"/>
              </a:ext>
            </a:extLst>
          </p:cNvPr>
          <p:cNvPicPr>
            <a:picLocks noGrp="1" noChangeAspect="1"/>
          </p:cNvPicPr>
          <p:nvPr>
            <p:ph sz="quarter" idx="13"/>
          </p:nvPr>
        </p:nvPicPr>
        <p:blipFill>
          <a:blip r:embed="rId2"/>
          <a:stretch>
            <a:fillRect/>
          </a:stretch>
        </p:blipFill>
        <p:spPr>
          <a:xfrm>
            <a:off x="774700" y="914400"/>
            <a:ext cx="10642599" cy="5308599"/>
          </a:xfrm>
          <a:prstGeom prst="rect">
            <a:avLst/>
          </a:prstGeom>
        </p:spPr>
      </p:pic>
    </p:spTree>
    <p:extLst>
      <p:ext uri="{BB962C8B-B14F-4D97-AF65-F5344CB8AC3E}">
        <p14:creationId xmlns:p14="http://schemas.microsoft.com/office/powerpoint/2010/main" val="2428095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CEA5D9B-0B9F-9A59-0253-725EC6029BA4}"/>
              </a:ext>
            </a:extLst>
          </p:cNvPr>
          <p:cNvPicPr>
            <a:picLocks noGrp="1" noChangeAspect="1"/>
          </p:cNvPicPr>
          <p:nvPr>
            <p:ph sz="quarter" idx="13"/>
          </p:nvPr>
        </p:nvPicPr>
        <p:blipFill>
          <a:blip r:embed="rId2"/>
          <a:stretch>
            <a:fillRect/>
          </a:stretch>
        </p:blipFill>
        <p:spPr>
          <a:xfrm>
            <a:off x="692150" y="901700"/>
            <a:ext cx="10807699" cy="5207000"/>
          </a:xfrm>
          <a:prstGeom prst="rect">
            <a:avLst/>
          </a:prstGeom>
        </p:spPr>
      </p:pic>
    </p:spTree>
    <p:extLst>
      <p:ext uri="{BB962C8B-B14F-4D97-AF65-F5344CB8AC3E}">
        <p14:creationId xmlns:p14="http://schemas.microsoft.com/office/powerpoint/2010/main" val="3816200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08BBD-9331-C9B3-9ED7-789A1E567B4A}"/>
              </a:ext>
            </a:extLst>
          </p:cNvPr>
          <p:cNvSpPr>
            <a:spLocks noGrp="1"/>
          </p:cNvSpPr>
          <p:nvPr>
            <p:ph type="title"/>
          </p:nvPr>
        </p:nvSpPr>
        <p:spPr/>
        <p:txBody>
          <a:bodyPr>
            <a:normAutofit fontScale="90000"/>
          </a:bodyPr>
          <a:lstStyle/>
          <a:p>
            <a:br>
              <a:rPr lang="en-IN" sz="2800" b="1" dirty="0">
                <a:latin typeface="Times New Roman" panose="02020603050405020304" pitchFamily="18" charset="0"/>
                <a:cs typeface="Times New Roman" panose="02020603050405020304" pitchFamily="18" charset="0"/>
              </a:rPr>
            </a:br>
            <a:br>
              <a:rPr lang="en-IN" sz="2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CONCLUSION :</a:t>
            </a:r>
            <a:br>
              <a:rPr lang="en-IN" sz="2800" b="1" dirty="0">
                <a:latin typeface="Times New Roman" panose="02020603050405020304" pitchFamily="18" charset="0"/>
                <a:cs typeface="Times New Roman" panose="02020603050405020304" pitchFamily="18" charset="0"/>
              </a:rPr>
            </a:br>
            <a:br>
              <a:rPr lang="en-IN" sz="2800" b="1" dirty="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518DE0E-E86A-7BC0-E6BF-922B796902CC}"/>
              </a:ext>
            </a:extLst>
          </p:cNvPr>
          <p:cNvSpPr>
            <a:spLocks noGrp="1"/>
          </p:cNvSpPr>
          <p:nvPr>
            <p:ph sz="quarter" idx="13"/>
          </p:nvPr>
        </p:nvSpPr>
        <p:spPr>
          <a:xfrm>
            <a:off x="914087" y="1454869"/>
            <a:ext cx="10363826" cy="5403131"/>
          </a:xfrm>
        </p:spPr>
        <p:txBody>
          <a:bodyPr>
            <a:normAutofit fontScale="40000" lnSpcReduction="20000"/>
          </a:bodyPr>
          <a:lstStyle/>
          <a:p>
            <a:pPr fontAlgn="base">
              <a:lnSpc>
                <a:spcPct val="150000"/>
              </a:lnSpc>
            </a:pPr>
            <a:r>
              <a:rPr lang="en-US" sz="5000" dirty="0">
                <a:latin typeface="Times New Roman" panose="02020603050405020304" pitchFamily="18" charset="0"/>
                <a:cs typeface="Times New Roman" panose="02020603050405020304" pitchFamily="18" charset="0"/>
              </a:rPr>
              <a:t>Smart Feedback AI effectively automates the process of analyzing large volumes of open-ended feedback using Natural Language Processing and deep learning techniques. The system converts unstructured textual data into meaningful insights by extracting keywords, identifying themes, and clustering similar responses. This automation significantly reduces manual effort, minimizes human bias, and saves time. By presenting insights through clear visualizations, the system improves decision-making for organizations. The solution is highly suitable for both </a:t>
            </a:r>
            <a:r>
              <a:rPr lang="en-US" sz="5000" b="1" dirty="0">
                <a:latin typeface="Times New Roman" panose="02020603050405020304" pitchFamily="18" charset="0"/>
                <a:cs typeface="Times New Roman" panose="02020603050405020304" pitchFamily="18" charset="0"/>
              </a:rPr>
              <a:t>educational institutions and organizations</a:t>
            </a:r>
            <a:r>
              <a:rPr lang="en-US" sz="5000" dirty="0">
                <a:latin typeface="Times New Roman" panose="02020603050405020304" pitchFamily="18" charset="0"/>
                <a:cs typeface="Times New Roman" panose="02020603050405020304" pitchFamily="18" charset="0"/>
              </a:rPr>
              <a:t> to continuously improve services based on real user feedback.</a:t>
            </a:r>
            <a:endParaRPr lang="en-US" sz="5000" b="1" dirty="0">
              <a:latin typeface="Times New Roman" panose="02020603050405020304" pitchFamily="18" charset="0"/>
              <a:cs typeface="Times New Roman" panose="02020603050405020304" pitchFamily="18" charset="0"/>
            </a:endParaRPr>
          </a:p>
          <a:p>
            <a:pPr fontAlgn="base">
              <a:lnSpc>
                <a:spcPct val="150000"/>
              </a:lnSpc>
            </a:pPr>
            <a:r>
              <a:rPr lang="en-US" sz="5000" b="1" dirty="0">
                <a:latin typeface="Times New Roman" panose="02020603050405020304" pitchFamily="18" charset="0"/>
                <a:cs typeface="Times New Roman" panose="02020603050405020304" pitchFamily="18" charset="0"/>
              </a:rPr>
              <a:t>Transforms raw feedback into insights</a:t>
            </a:r>
            <a:r>
              <a:rPr lang="en-US" sz="5000" dirty="0">
                <a:latin typeface="Times New Roman" panose="02020603050405020304" pitchFamily="18" charset="0"/>
                <a:cs typeface="Times New Roman" panose="02020603050405020304" pitchFamily="18" charset="0"/>
              </a:rPr>
              <a:t> using NLP and visualization.</a:t>
            </a:r>
            <a:endParaRPr lang="en-US" sz="5000" b="1" dirty="0">
              <a:latin typeface="Times New Roman" panose="02020603050405020304" pitchFamily="18" charset="0"/>
              <a:cs typeface="Times New Roman" panose="02020603050405020304" pitchFamily="18" charset="0"/>
            </a:endParaRPr>
          </a:p>
          <a:p>
            <a:pPr fontAlgn="base">
              <a:lnSpc>
                <a:spcPct val="150000"/>
              </a:lnSpc>
            </a:pPr>
            <a:r>
              <a:rPr lang="en-US" sz="5000" b="1" dirty="0">
                <a:latin typeface="Times New Roman" panose="02020603050405020304" pitchFamily="18" charset="0"/>
                <a:cs typeface="Times New Roman" panose="02020603050405020304" pitchFamily="18" charset="0"/>
              </a:rPr>
              <a:t>Supports better decision-making</a:t>
            </a:r>
            <a:r>
              <a:rPr lang="en-US" sz="5000" dirty="0">
                <a:latin typeface="Times New Roman" panose="02020603050405020304" pitchFamily="18" charset="0"/>
                <a:cs typeface="Times New Roman" panose="02020603050405020304" pitchFamily="18" charset="0"/>
              </a:rPr>
              <a:t> by highlighting key themes and</a:t>
            </a:r>
            <a:endParaRPr lang="en-US" sz="5000"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003236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Thank you Images - Free Download on Freepik">
            <a:extLst>
              <a:ext uri="{FF2B5EF4-FFF2-40B4-BE49-F238E27FC236}">
                <a16:creationId xmlns:a16="http://schemas.microsoft.com/office/drawing/2014/main" id="{02EDFE7A-15C4-A089-649F-A87253C389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990"/>
      </p:ext>
    </p:extLst>
  </p:cSld>
  <p:clrMapOvr>
    <a:masterClrMapping/>
  </p:clrMapOvr>
  <p:transition spd="slow">
    <p:wipe/>
  </p:transition>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8801</TotalTime>
  <Words>1299</Words>
  <Application>Microsoft Office PowerPoint</Application>
  <PresentationFormat>Widescreen</PresentationFormat>
  <Paragraphs>91</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Cambria</vt:lpstr>
      <vt:lpstr>Times New Roman</vt:lpstr>
      <vt:lpstr>Office 2013 - 2022 Theme</vt:lpstr>
      <vt:lpstr>Madanapalle Institute of Technology &amp; Science, Madanapalle UGC-AUTONOMOUS INSTITUTION Affiliated to JNTUA, Ananthapuramu &amp; Approved by AICTE, New Delhi</vt:lpstr>
      <vt:lpstr>  CONTENTS :  </vt:lpstr>
      <vt:lpstr> OBJECTIVE  </vt:lpstr>
      <vt:lpstr>ABSTRACT</vt:lpstr>
      <vt:lpstr>EXISTING SYSTEM</vt:lpstr>
      <vt:lpstr>DISADVANTAGES</vt:lpstr>
      <vt:lpstr>PROPOSED SYSTEM</vt:lpstr>
      <vt:lpstr>ADVANTAGES</vt:lpstr>
      <vt:lpstr>RESEARCH GAP</vt:lpstr>
      <vt:lpstr>TENTATIVE METHODOLOGY</vt:lpstr>
      <vt:lpstr>PowerPoint Presentation</vt:lpstr>
      <vt:lpstr>EXPECTED OUTPUT</vt:lpstr>
      <vt:lpstr>PowerPoint Presentation</vt:lpstr>
      <vt:lpstr>PowerPoint Presentation</vt:lpstr>
      <vt:lpstr>  CONCLUSION :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PRESENTATION ON  INTELLIGENT URL ANALYSIS FOR PHISHING THREATS  DEPARTMENT OF COMPUTER SCIENCE &amp; TECHNOLOGY, MITS</dc:title>
  <dc:creator>Bhanu Prakash. G</dc:creator>
  <cp:lastModifiedBy>Satheesh, Vadla (Contractor)</cp:lastModifiedBy>
  <cp:revision>95</cp:revision>
  <dcterms:created xsi:type="dcterms:W3CDTF">2024-02-01T16:48:08Z</dcterms:created>
  <dcterms:modified xsi:type="dcterms:W3CDTF">2026-04-29T05:32:46Z</dcterms:modified>
</cp:coreProperties>
</file>